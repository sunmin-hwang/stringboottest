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309" r:id="rId3"/>
    <p:sldId id="310" r:id="rId4"/>
    <p:sldId id="271" r:id="rId5"/>
    <p:sldId id="268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302" r:id="rId15"/>
    <p:sldId id="265" r:id="rId16"/>
    <p:sldId id="269" r:id="rId17"/>
    <p:sldId id="270" r:id="rId18"/>
    <p:sldId id="272" r:id="rId19"/>
    <p:sldId id="273" r:id="rId20"/>
    <p:sldId id="287" r:id="rId21"/>
    <p:sldId id="275" r:id="rId22"/>
    <p:sldId id="276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9" r:id="rId33"/>
    <p:sldId id="292" r:id="rId34"/>
    <p:sldId id="291" r:id="rId35"/>
    <p:sldId id="293" r:id="rId36"/>
    <p:sldId id="295" r:id="rId37"/>
    <p:sldId id="303" r:id="rId38"/>
    <p:sldId id="304" r:id="rId39"/>
    <p:sldId id="306" r:id="rId40"/>
    <p:sldId id="307" r:id="rId41"/>
    <p:sldId id="297" r:id="rId42"/>
    <p:sldId id="299" r:id="rId43"/>
    <p:sldId id="296" r:id="rId44"/>
    <p:sldId id="311" r:id="rId45"/>
    <p:sldId id="300" r:id="rId4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26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7C1F9D-5A35-46ED-A674-5453CCC2FC4A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FDC76-EEFB-4A7C-8439-FBDFDE25B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76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E6CD6-8369-5E5E-6E89-CBB933D55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D88B71-7508-D77A-6439-06977147DF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56E3CE-A6D5-0F37-F94A-9C08D5EDB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5486-EB20-4693-8ADC-DD19A42E25CA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56F993-4149-6623-0929-E7474907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116CFA-19DF-EAFD-C9C2-7E2E5902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65462-8144-4257-AFBE-EE20785E1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32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745FF-E49A-C959-353E-35A494D94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F54BCE-1122-FF66-7486-D09454708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488C70-19D0-F356-B2BD-E9CE058B1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5486-EB20-4693-8ADC-DD19A42E25CA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2321D3-3744-A543-B0EA-1A31B265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34EB56-E6E6-1BB2-8B05-6BD8ABC2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65462-8144-4257-AFBE-EE20785E1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491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1A59F9-AECB-A51F-8570-47DFB85EA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377AC3-1FB4-C741-8D0F-96B543674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A1FEA3-A097-3D98-B99B-F1B260CFD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5486-EB20-4693-8ADC-DD19A42E25CA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A1BCDE-8149-4273-BEAA-7CBF1614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B029A4-099A-F057-2AD9-87DE02C8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65462-8144-4257-AFBE-EE20785E1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999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CF39B-0747-7CCF-5A5B-DF04B898E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219EF0-F38B-1891-9B92-EBB62DA8E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1AD692-9460-4FCE-A7B5-2803E7818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2E950F-0273-0A2C-DEC5-71A401151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5486-EB20-4693-8ADC-DD19A42E25CA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6E316-1DB5-A0A7-E71D-44B4F203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B6BE2A-6110-82F9-BC7F-CE328617D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65462-8144-4257-AFBE-EE20785E1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060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CA831-10A2-76E3-3917-39FE23C94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A740D5-8272-9BDD-2BA5-7A9F85523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429DF4-D6C0-25D1-E60A-73AC09C2D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B9CCF4-4E14-5C9F-54DE-B5BB52285A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BF6F64-171C-DAB5-6909-4B1F53DB3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C80CA1-1A20-9C51-817C-43CFBFFD9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5486-EB20-4693-8ADC-DD19A42E25CA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DD9B36-4C4E-3FB5-C00D-850D42D02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390FA4-C4F9-639C-B197-0CE044D7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65462-8144-4257-AFBE-EE20785E1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246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79E67-D957-78E8-9659-7E793501F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06BB62-54CB-56D9-B3CE-D6A406F7B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5486-EB20-4693-8ADC-DD19A42E25CA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2CF1E3-1436-23F9-9941-27CD233AC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0FCA15-5E69-F170-36BD-E4BA452DA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65462-8144-4257-AFBE-EE20785E1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292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00490D8-88A9-485E-9084-596CB28D4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5486-EB20-4693-8ADC-DD19A42E25CA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5682CF-4451-CFAA-E100-B4FD6BC2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0F6A62-8D02-08BE-6D6E-8A91376A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65462-8144-4257-AFBE-EE20785E1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024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309C49-1507-82AF-297D-39420E8B2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526AF6-1214-8BA1-CAF0-892CC7DAB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916C9C-8737-7520-412C-01F33F84D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A520C6-F3CC-381F-CB6F-A7361F535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5486-EB20-4693-8ADC-DD19A42E25CA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FF15F1-2315-335B-F9B8-CB4C8217F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870DEA-F83E-85F8-48AF-82F497A9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65462-8144-4257-AFBE-EE20785E1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281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9E282D-953D-7E46-A7C9-21B8859C6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433EC4-5912-0668-7A3C-E401320B35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945D3E-9482-9D8D-9F0C-E775C4919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12640-9450-6737-4BBE-74CF543E0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5486-EB20-4693-8ADC-DD19A42E25CA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ECF42B-EF24-1D46-8821-47C7339F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497BE2-BD65-E1A1-17A6-29A7A890A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65462-8144-4257-AFBE-EE20785E1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51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74D42-24E3-6324-E8D0-6FE161A87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C82BB6-6EF5-DC36-4DF6-3C8105761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93CE44-3FF7-FB90-636F-1539F87EF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5486-EB20-4693-8ADC-DD19A42E25CA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049919-1B46-B2B7-B082-2F687E65A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DB8434-14EB-0376-461A-12412B3C4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65462-8144-4257-AFBE-EE20785E1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279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57D77FC-F2F2-9750-8C1B-EDFED61B74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AF4FC6-3F39-6BC4-53DD-0CEED605E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91D1E7-CD9A-8060-EECA-454A15576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5486-EB20-4693-8ADC-DD19A42E25CA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373DAE-3D24-DC35-B833-AD47D6086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DA524A-97E3-0401-DFF0-4BDC270A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65462-8144-4257-AFBE-EE20785E1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54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D43518-8E44-4AF8-75C8-D75C0DC2B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157AFB-87CC-7720-738E-3E3E7B129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332AA6-4371-F100-DD17-0EED740A9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55486-EB20-4693-8ADC-DD19A42E25CA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3679BE-EC46-5E56-D22F-5AC48ED05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A0C72E-E446-49FE-0FDC-7494C2BD8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965462-8144-4257-AFBE-EE20785E17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77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nmin-hwang/StringbootTest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vnrepository.com/open-source/maven-plugins" TargetMode="Externa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pring.io/spring-data/jpa/reference/jpa/query-methods.html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39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Freeform: Shape 1041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F86E87F-8E3B-D689-2D2E-5ADD43A29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390525"/>
            <a:ext cx="1090964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SpringBoot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A2BA69-B4FF-BCF4-70F8-58208D5E25C7}"/>
              </a:ext>
            </a:extLst>
          </p:cNvPr>
          <p:cNvSpPr txBox="1"/>
          <p:nvPr/>
        </p:nvSpPr>
        <p:spPr>
          <a:xfrm>
            <a:off x="2895601" y="1900826"/>
            <a:ext cx="6396204" cy="662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ctr" latinLnBrk="0">
              <a:lnSpc>
                <a:spcPct val="90000"/>
              </a:lnSpc>
              <a:spcBef>
                <a:spcPts val="1000"/>
              </a:spcBef>
            </a:pPr>
            <a:r>
              <a:rPr lang="en-US" altLang="ko-KR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Java/Kotlin </a:t>
            </a:r>
            <a:r>
              <a:rPr lang="ko-KR" alt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기반의 </a:t>
            </a:r>
            <a:r>
              <a:rPr lang="ko-KR" alt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백엔드를</a:t>
            </a:r>
            <a:r>
              <a:rPr lang="en-US" altLang="ko-KR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개발하는 프레임워크</a:t>
            </a:r>
          </a:p>
        </p:txBody>
      </p:sp>
      <p:sp>
        <p:nvSpPr>
          <p:cNvPr id="1044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pring Boot] 스프링 부트 - 세팅, DB 연결(SqlSessionFactory, mapper)">
            <a:extLst>
              <a:ext uri="{FF2B5EF4-FFF2-40B4-BE49-F238E27FC236}">
                <a16:creationId xmlns:a16="http://schemas.microsoft.com/office/drawing/2014/main" id="{D7563E00-7ADA-490A-F19E-2DB733E25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7205" y="3067050"/>
            <a:ext cx="9914542" cy="3019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52C391-4CF9-2A16-37C0-FA579CC67CC3}"/>
              </a:ext>
            </a:extLst>
          </p:cNvPr>
          <p:cNvSpPr txBox="1"/>
          <p:nvPr/>
        </p:nvSpPr>
        <p:spPr>
          <a:xfrm>
            <a:off x="6573753" y="6488668"/>
            <a:ext cx="6097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https://github.com/sunmin-hwang/StringbootTest.git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4166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D2EF9B-5B4C-2D74-81EA-39733A013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C9B843CA-AEA5-F914-6B33-FBE64BF5D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B6181D7E-9256-7578-EE6E-742D5E6FA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1"/>
            <a:ext cx="1219200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A873463A-39A9-4715-170F-521D39D9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8" y="685799"/>
            <a:ext cx="10820400" cy="548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75A020-A9C5-870E-D671-85B931300B55}"/>
              </a:ext>
            </a:extLst>
          </p:cNvPr>
          <p:cNvSpPr txBox="1"/>
          <p:nvPr/>
        </p:nvSpPr>
        <p:spPr>
          <a:xfrm>
            <a:off x="1587794" y="1136478"/>
            <a:ext cx="9016409" cy="10518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110004020202020204"/>
                <a:ea typeface="맑은 고딕" panose="020B0503020000020004" pitchFamily="50" charset="-127"/>
              </a:rPr>
              <a:t>세미나 목적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531F2C-2F46-1296-F9E2-6CDA4BCF9998}"/>
              </a:ext>
            </a:extLst>
          </p:cNvPr>
          <p:cNvSpPr txBox="1"/>
          <p:nvPr/>
        </p:nvSpPr>
        <p:spPr>
          <a:xfrm>
            <a:off x="3175838" y="4421275"/>
            <a:ext cx="461665" cy="923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 descr="AI가 인간형 로봇의 미래를 어떻게 변화시키고 있는가">
            <a:extLst>
              <a:ext uri="{FF2B5EF4-FFF2-40B4-BE49-F238E27FC236}">
                <a16:creationId xmlns:a16="http://schemas.microsoft.com/office/drawing/2014/main" id="{AFCF954E-2C17-3B0E-440A-7E88C443B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892472"/>
            <a:ext cx="702945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6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DC15AD-4190-881D-90FF-D6D2C30E8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0AC1068F-0C28-CB87-BD36-3C444E94A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306C2450-59D6-920D-E8C8-266CA3A0F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1"/>
            <a:ext cx="1219200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4BF94AA2-DA73-B571-B2F7-D0F442F8A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8" y="685799"/>
            <a:ext cx="10820400" cy="548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6DE31-85CD-B360-EA8C-1DF80D31F950}"/>
              </a:ext>
            </a:extLst>
          </p:cNvPr>
          <p:cNvSpPr txBox="1"/>
          <p:nvPr/>
        </p:nvSpPr>
        <p:spPr>
          <a:xfrm>
            <a:off x="1587794" y="1136478"/>
            <a:ext cx="9016409" cy="10518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110004020202020204"/>
                <a:ea typeface="맑은 고딕" panose="020B0503020000020004" pitchFamily="50" charset="-127"/>
              </a:rPr>
              <a:t>Spring boot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F0DA4-1F6B-6978-FB79-74D781E59650}"/>
              </a:ext>
            </a:extLst>
          </p:cNvPr>
          <p:cNvSpPr txBox="1"/>
          <p:nvPr/>
        </p:nvSpPr>
        <p:spPr>
          <a:xfrm>
            <a:off x="3175838" y="4421275"/>
            <a:ext cx="461665" cy="923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 descr="Java - 나무위키">
            <a:extLst>
              <a:ext uri="{FF2B5EF4-FFF2-40B4-BE49-F238E27FC236}">
                <a16:creationId xmlns:a16="http://schemas.microsoft.com/office/drawing/2014/main" id="{2EE1D1AE-3527-009C-EA4A-317EE4A75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793" y="942976"/>
            <a:ext cx="2769577" cy="5143500"/>
          </a:xfrm>
          <a:prstGeom prst="rect">
            <a:avLst/>
          </a:prstGeom>
        </p:spPr>
      </p:pic>
      <p:pic>
        <p:nvPicPr>
          <p:cNvPr id="2" name="그림 1" descr="백엔드, 누구나 이해할 수 있게 알려드립니다 (백엔드 뜻, 프론트엔드 차이점 등) | zero-base">
            <a:extLst>
              <a:ext uri="{FF2B5EF4-FFF2-40B4-BE49-F238E27FC236}">
                <a16:creationId xmlns:a16="http://schemas.microsoft.com/office/drawing/2014/main" id="{4BD6A1A8-D2B0-31DA-B978-CE932B315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951" y="1062036"/>
            <a:ext cx="382905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367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56604AF4-AEF7-4020-93AD-C74808D17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EDB65AB2-AC18-4139-B8BE-52452A256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1"/>
            <a:ext cx="1219200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B89A5304-EF26-47F3-9CB7-ED121FC74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8" y="685799"/>
            <a:ext cx="10820400" cy="548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9003E-F1BB-D533-1023-896D14543AD4}"/>
              </a:ext>
            </a:extLst>
          </p:cNvPr>
          <p:cNvSpPr txBox="1"/>
          <p:nvPr/>
        </p:nvSpPr>
        <p:spPr>
          <a:xfrm>
            <a:off x="1587794" y="1136478"/>
            <a:ext cx="9016409" cy="10518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장점</a:t>
            </a:r>
          </a:p>
        </p:txBody>
      </p:sp>
      <p:pic>
        <p:nvPicPr>
          <p:cNvPr id="1034" name="Picture 10" descr="PNG, SVG 형식의 미적 사과 설정 아이콘">
            <a:extLst>
              <a:ext uri="{FF2B5EF4-FFF2-40B4-BE49-F238E27FC236}">
                <a16:creationId xmlns:a16="http://schemas.microsoft.com/office/drawing/2014/main" id="{2E247F84-C7AE-7648-25C6-A68A5C2BC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5482" y="2391333"/>
            <a:ext cx="1897674" cy="189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pache Tomcat] 아파치 톰캣 설치 및 이클립스 연동하기 : 네이버 블로그">
            <a:extLst>
              <a:ext uri="{FF2B5EF4-FFF2-40B4-BE49-F238E27FC236}">
                <a16:creationId xmlns:a16="http://schemas.microsoft.com/office/drawing/2014/main" id="{D468A9D6-F72B-E640-636C-53EB1329C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47161" y="2372516"/>
            <a:ext cx="1897675" cy="189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굳건이 - 나무위키">
            <a:extLst>
              <a:ext uri="{FF2B5EF4-FFF2-40B4-BE49-F238E27FC236}">
                <a16:creationId xmlns:a16="http://schemas.microsoft.com/office/drawing/2014/main" id="{2BCD92FC-6DE5-4BDE-4E37-15D1C47F1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2346" y="706536"/>
            <a:ext cx="1383135" cy="191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8E68C5-938A-EDA2-33D9-44D480C632AC}"/>
              </a:ext>
            </a:extLst>
          </p:cNvPr>
          <p:cNvSpPr txBox="1"/>
          <p:nvPr/>
        </p:nvSpPr>
        <p:spPr>
          <a:xfrm>
            <a:off x="3175838" y="4421275"/>
            <a:ext cx="461665" cy="923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40" name="Picture 16" descr="포트폴리오에 꼭 들어가야 하는 필수 정보 작성법 l 취업 포트폴리오 만들기 l 포트폴리오 예시 l 포트폴리오 디자인 l 포트폴리오  ppt - YouTube">
            <a:extLst>
              <a:ext uri="{FF2B5EF4-FFF2-40B4-BE49-F238E27FC236}">
                <a16:creationId xmlns:a16="http://schemas.microsoft.com/office/drawing/2014/main" id="{8519E135-AC6C-42D2-C4E0-49C814B2C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1260" y="2380803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DC137F-F090-A578-F87F-4E712C5C13B5}"/>
              </a:ext>
            </a:extLst>
          </p:cNvPr>
          <p:cNvSpPr txBox="1"/>
          <p:nvPr/>
        </p:nvSpPr>
        <p:spPr>
          <a:xfrm>
            <a:off x="2584028" y="478977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세팅이 편함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83E200-3DF2-1420-C638-E2692DDE3F36}"/>
              </a:ext>
            </a:extLst>
          </p:cNvPr>
          <p:cNvSpPr txBox="1"/>
          <p:nvPr/>
        </p:nvSpPr>
        <p:spPr>
          <a:xfrm>
            <a:off x="4835236" y="4771323"/>
            <a:ext cx="2521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내장서버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(tomcat)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탑재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EA6AF4-5A8E-B1C1-5B12-1FC08A4117AA}"/>
              </a:ext>
            </a:extLst>
          </p:cNvPr>
          <p:cNvSpPr txBox="1"/>
          <p:nvPr/>
        </p:nvSpPr>
        <p:spPr>
          <a:xfrm>
            <a:off x="8272415" y="4789776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한국 기업에서 많이 씀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052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E75D9A-1700-9F02-7311-E6BCFFEF7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AC0CBD21-83ED-1E5C-CD11-9AA8704E3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1E856C26-8D63-C9AE-D03F-141BBD9CD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1"/>
            <a:ext cx="1219200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4FD83FC0-0480-8300-C81F-92822A7EA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8" y="685799"/>
            <a:ext cx="10820400" cy="548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6A1727-4275-6532-A5CF-E7F35CCEE9F9}"/>
              </a:ext>
            </a:extLst>
          </p:cNvPr>
          <p:cNvSpPr txBox="1"/>
          <p:nvPr/>
        </p:nvSpPr>
        <p:spPr>
          <a:xfrm>
            <a:off x="1587794" y="1136478"/>
            <a:ext cx="9016409" cy="10518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단점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7A67B8-A75F-699B-B6FD-E978E9BC1737}"/>
              </a:ext>
            </a:extLst>
          </p:cNvPr>
          <p:cNvSpPr txBox="1"/>
          <p:nvPr/>
        </p:nvSpPr>
        <p:spPr>
          <a:xfrm>
            <a:off x="3175838" y="4421275"/>
            <a:ext cx="461665" cy="923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EC162B-0E2F-FB71-275D-56B88DF8836D}"/>
              </a:ext>
            </a:extLst>
          </p:cNvPr>
          <p:cNvSpPr txBox="1"/>
          <p:nvPr/>
        </p:nvSpPr>
        <p:spPr>
          <a:xfrm>
            <a:off x="2116894" y="4545917"/>
            <a:ext cx="2579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어려움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…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But!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우리는 </a:t>
            </a:r>
            <a:r>
              <a:rPr lang="en-US" altLang="ko-KR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AI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가 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!!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C69DC5-C167-AD5D-EE85-6F3B7F5AE384}"/>
              </a:ext>
            </a:extLst>
          </p:cNvPr>
          <p:cNvSpPr txBox="1"/>
          <p:nvPr/>
        </p:nvSpPr>
        <p:spPr>
          <a:xfrm>
            <a:off x="5039458" y="4596545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프로그램이 무거움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Booting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 느림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D1942E-C2FC-FA57-FA55-5007D6C45A66}"/>
              </a:ext>
            </a:extLst>
          </p:cNvPr>
          <p:cNvSpPr txBox="1"/>
          <p:nvPr/>
        </p:nvSpPr>
        <p:spPr>
          <a:xfrm>
            <a:off x="7822902" y="4735044"/>
            <a:ext cx="351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자동화로 인한 오류 찾기 어려움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545C97-DDC9-ECCA-8B23-DFAAE0FC0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090" y="685798"/>
            <a:ext cx="1362857" cy="1885363"/>
          </a:xfrm>
          <a:prstGeom prst="rect">
            <a:avLst/>
          </a:prstGeom>
        </p:spPr>
      </p:pic>
      <p:pic>
        <p:nvPicPr>
          <p:cNvPr id="2060" name="Picture 12" descr="어려움 이미지 – 찾아보기 140 스톡 사진, 벡터 및 비디오 | Adobe Stock">
            <a:extLst>
              <a:ext uri="{FF2B5EF4-FFF2-40B4-BE49-F238E27FC236}">
                <a16:creationId xmlns:a16="http://schemas.microsoft.com/office/drawing/2014/main" id="{BCB4BC48-57FA-058C-6DC0-2128C68E0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49" y="2314219"/>
            <a:ext cx="2314575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비만 - 무료 의료 및 의료개 아이콘">
            <a:extLst>
              <a:ext uri="{FF2B5EF4-FFF2-40B4-BE49-F238E27FC236}">
                <a16:creationId xmlns:a16="http://schemas.microsoft.com/office/drawing/2014/main" id="{2010D7C8-9320-3C65-FFBF-C9FAC56B6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580" y="2244856"/>
            <a:ext cx="2119926" cy="2119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원조 업무 자동화 소프트웨어, AI를 만나다 &lt; 모빌리티 &lt; 산업 &lt; 기사본문 - 더에이아이">
            <a:extLst>
              <a:ext uri="{FF2B5EF4-FFF2-40B4-BE49-F238E27FC236}">
                <a16:creationId xmlns:a16="http://schemas.microsoft.com/office/drawing/2014/main" id="{9823A578-2305-AD83-E5E1-FAD7F32E9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902" y="2314219"/>
            <a:ext cx="3343991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2552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0D10AE2-5AA5-9ED5-E859-C0AE35A15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altLang="ko-KR" sz="3400"/>
              <a:t>Intellij</a:t>
            </a:r>
            <a:endParaRPr lang="ko-KR" altLang="en-US" sz="3400"/>
          </a:p>
        </p:txBody>
      </p: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70" name="Rectangle 2069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E37C56-7F8B-7374-C0CA-4E50D2F13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altLang="ko-KR" sz="1800"/>
              <a:t>Java</a:t>
            </a:r>
            <a:r>
              <a:rPr lang="ko-KR" altLang="en-US" sz="1800"/>
              <a:t>용</a:t>
            </a:r>
            <a:r>
              <a:rPr lang="en-US" altLang="ko-KR" sz="1800"/>
              <a:t>(Springboot, Kotlin…)</a:t>
            </a:r>
            <a:r>
              <a:rPr lang="ko-KR" altLang="en-US" sz="1800"/>
              <a:t> 개발도구</a:t>
            </a:r>
            <a:endParaRPr lang="en-US" altLang="ko-KR" sz="1800"/>
          </a:p>
          <a:p>
            <a:r>
              <a:rPr lang="en-US" altLang="ko-KR" sz="1800"/>
              <a:t>VsCode</a:t>
            </a:r>
            <a:r>
              <a:rPr lang="ko-KR" altLang="en-US" sz="1800"/>
              <a:t>와 비슷</a:t>
            </a:r>
          </a:p>
        </p:txBody>
      </p:sp>
      <p:pic>
        <p:nvPicPr>
          <p:cNvPr id="2050" name="Picture 2" descr="Install IntelliJ IDEA on Linux | Snap Store">
            <a:extLst>
              <a:ext uri="{FF2B5EF4-FFF2-40B4-BE49-F238E27FC236}">
                <a16:creationId xmlns:a16="http://schemas.microsoft.com/office/drawing/2014/main" id="{E5718F43-1E83-6DD6-6654-445379BA3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30388" y="625683"/>
            <a:ext cx="5551280" cy="555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356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24C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E8B94F36-4AFB-D630-A891-6E47994CB1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29886"/>
            <a:ext cx="10905066" cy="479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94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54" name="Rectangle 3153">
            <a:extLst>
              <a:ext uri="{FF2B5EF4-FFF2-40B4-BE49-F238E27FC236}">
                <a16:creationId xmlns:a16="http://schemas.microsoft.com/office/drawing/2014/main" id="{932495F0-C5CB-4823-AE70-EED61EBAB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3968F45-9A24-70EC-6EBE-A7EFDF012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83" y="1143000"/>
            <a:ext cx="4846320" cy="2898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5400"/>
              <a:t>Controller</a:t>
            </a: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25C6129C-883A-9BD1-2C8F-8E28F4F96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183" y="4407408"/>
            <a:ext cx="4846320" cy="13350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sz="2400"/>
              <a:t>Front</a:t>
            </a:r>
            <a:r>
              <a:rPr lang="ko-KR" altLang="en-US" sz="2400"/>
              <a:t>한테 요청과 응답 전달</a:t>
            </a:r>
            <a:endParaRPr lang="en-US" sz="2400"/>
          </a:p>
        </p:txBody>
      </p:sp>
      <p:sp>
        <p:nvSpPr>
          <p:cNvPr id="3156" name="Rectangle 3155">
            <a:extLst>
              <a:ext uri="{FF2B5EF4-FFF2-40B4-BE49-F238E27FC236}">
                <a16:creationId xmlns:a16="http://schemas.microsoft.com/office/drawing/2014/main" id="{CB8B9C25-D80D-48EC-B83A-231219A80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82975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9C549D4-1D55-D62D-7202-4E0572F01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331" y="1006901"/>
            <a:ext cx="6967052" cy="2055280"/>
          </a:xfrm>
          <a:prstGeom prst="rect">
            <a:avLst/>
          </a:prstGeom>
        </p:spPr>
      </p:pic>
      <p:sp>
        <p:nvSpPr>
          <p:cNvPr id="3158" name="Rectangle 3157">
            <a:extLst>
              <a:ext uri="{FF2B5EF4-FFF2-40B4-BE49-F238E27FC236}">
                <a16:creationId xmlns:a16="http://schemas.microsoft.com/office/drawing/2014/main" id="{601CC70B-8875-45A1-8AFD-7D546E3C0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897" y="4177748"/>
            <a:ext cx="4824407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 descr="알바, 아르바이트, 알바생, 아르바이트생, 직업, 사진,이미지,일러스트,캘리그라피 - woocat작가">
            <a:extLst>
              <a:ext uri="{FF2B5EF4-FFF2-40B4-BE49-F238E27FC236}">
                <a16:creationId xmlns:a16="http://schemas.microsoft.com/office/drawing/2014/main" id="{DBDF13E4-DA06-8297-2911-1F471E12B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71" r="-2" b="21574"/>
          <a:stretch>
            <a:fillRect/>
          </a:stretch>
        </p:blipFill>
        <p:spPr bwMode="auto">
          <a:xfrm>
            <a:off x="6317531" y="3522180"/>
            <a:ext cx="5327851" cy="314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01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D313E7-4AC6-8196-CA11-0CFAF6C65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73" name="Rectangle 6172">
            <a:extLst>
              <a:ext uri="{FF2B5EF4-FFF2-40B4-BE49-F238E27FC236}">
                <a16:creationId xmlns:a16="http://schemas.microsoft.com/office/drawing/2014/main" id="{932495F0-C5CB-4823-AE70-EED61EBAB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F1148B-6184-DEE8-4F4C-5E8CC256E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83" y="1143000"/>
            <a:ext cx="4846320" cy="2898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5400" dirty="0"/>
              <a:t>Service</a:t>
            </a: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2096D0B6-A5D4-6CFF-12D2-98655FEE7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183" y="4407408"/>
            <a:ext cx="4846320" cy="13350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sz="2400" dirty="0"/>
              <a:t>Business Logic </a:t>
            </a:r>
            <a:r>
              <a:rPr lang="en-US" altLang="ko-KR" sz="2400" dirty="0"/>
              <a:t> </a:t>
            </a:r>
            <a:r>
              <a:rPr lang="ko-KR" altLang="en-US" sz="2400" dirty="0"/>
              <a:t>처리</a:t>
            </a:r>
            <a:endParaRPr lang="en-US" sz="2400" dirty="0"/>
          </a:p>
        </p:txBody>
      </p:sp>
      <p:sp>
        <p:nvSpPr>
          <p:cNvPr id="6175" name="Rectangle 6174">
            <a:extLst>
              <a:ext uri="{FF2B5EF4-FFF2-40B4-BE49-F238E27FC236}">
                <a16:creationId xmlns:a16="http://schemas.microsoft.com/office/drawing/2014/main" id="{CB8B9C25-D80D-48EC-B83A-231219A80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82975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FAB917-48C0-D6F8-418E-9DD15F8E7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991" y="818523"/>
            <a:ext cx="6801965" cy="2511698"/>
          </a:xfrm>
          <a:prstGeom prst="rect">
            <a:avLst/>
          </a:prstGeom>
        </p:spPr>
      </p:pic>
      <p:sp>
        <p:nvSpPr>
          <p:cNvPr id="6177" name="Rectangle 6176">
            <a:extLst>
              <a:ext uri="{FF2B5EF4-FFF2-40B4-BE49-F238E27FC236}">
                <a16:creationId xmlns:a16="http://schemas.microsoft.com/office/drawing/2014/main" id="{601CC70B-8875-45A1-8AFD-7D546E3C0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897" y="4177748"/>
            <a:ext cx="4824407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46" name="Picture 2" descr="주방장, 요리사, 쉐프, 사람, 사람일러스트, 사진,이미지,일러스트,캘리그라피 - JSdesign작가">
            <a:extLst>
              <a:ext uri="{FF2B5EF4-FFF2-40B4-BE49-F238E27FC236}">
                <a16:creationId xmlns:a16="http://schemas.microsoft.com/office/drawing/2014/main" id="{076DB046-DE1B-84B8-C577-8929FE8DB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30571" y="3522180"/>
            <a:ext cx="3301771" cy="314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827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FD7C1F-5F24-1C50-D36A-19BBEE554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9" name="Rectangle 5148">
            <a:extLst>
              <a:ext uri="{FF2B5EF4-FFF2-40B4-BE49-F238E27FC236}">
                <a16:creationId xmlns:a16="http://schemas.microsoft.com/office/drawing/2014/main" id="{932495F0-C5CB-4823-AE70-EED61EBAB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E319A4-80F0-9291-3966-CB331979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83" y="1143000"/>
            <a:ext cx="4846320" cy="2898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5400"/>
              <a:t>Repository</a:t>
            </a: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D7677EF2-47DE-D6E1-D1DB-9EAFFC174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183" y="4407408"/>
            <a:ext cx="4846320" cy="13350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sz="2400"/>
              <a:t>DB</a:t>
            </a:r>
            <a:r>
              <a:rPr lang="ko-KR" altLang="en-US" sz="2400"/>
              <a:t>와 소통</a:t>
            </a:r>
            <a:endParaRPr lang="en-US" sz="2400"/>
          </a:p>
        </p:txBody>
      </p:sp>
      <p:sp>
        <p:nvSpPr>
          <p:cNvPr id="5151" name="Rectangle 5150">
            <a:extLst>
              <a:ext uri="{FF2B5EF4-FFF2-40B4-BE49-F238E27FC236}">
                <a16:creationId xmlns:a16="http://schemas.microsoft.com/office/drawing/2014/main" id="{CB8B9C25-D80D-48EC-B83A-231219A80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82975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89E98D-A9B1-7C9B-D908-57A6A4A26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949" y="697882"/>
            <a:ext cx="6305008" cy="2632340"/>
          </a:xfrm>
          <a:prstGeom prst="rect">
            <a:avLst/>
          </a:prstGeom>
        </p:spPr>
      </p:pic>
      <p:sp>
        <p:nvSpPr>
          <p:cNvPr id="5153" name="Rectangle 5152">
            <a:extLst>
              <a:ext uri="{FF2B5EF4-FFF2-40B4-BE49-F238E27FC236}">
                <a16:creationId xmlns:a16="http://schemas.microsoft.com/office/drawing/2014/main" id="{601CC70B-8875-45A1-8AFD-7D546E3C0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897" y="4177748"/>
            <a:ext cx="4824407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22" name="Picture 2" descr="식자재왕, e왕마트 캐릭터 'e왕이' 공개">
            <a:extLst>
              <a:ext uri="{FF2B5EF4-FFF2-40B4-BE49-F238E27FC236}">
                <a16:creationId xmlns:a16="http://schemas.microsoft.com/office/drawing/2014/main" id="{68ADEC0F-12E5-86B6-D924-6FB4DF442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09526" y="3522180"/>
            <a:ext cx="3143861" cy="314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8415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8ABD49-4BE6-605A-4C60-AB4139A9E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4" name="Rectangle 4113">
            <a:extLst>
              <a:ext uri="{FF2B5EF4-FFF2-40B4-BE49-F238E27FC236}">
                <a16:creationId xmlns:a16="http://schemas.microsoft.com/office/drawing/2014/main" id="{932495F0-C5CB-4823-AE70-EED61EBAB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966C9E-4FF8-2EDE-CA8D-A6477B41A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83" y="1143000"/>
            <a:ext cx="4846320" cy="2898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5400"/>
              <a:t>Entity</a:t>
            </a: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49ECD4BE-A4F9-6B6A-9269-67E481C8C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183" y="4407408"/>
            <a:ext cx="4846320" cy="13350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2400"/>
              <a:t>각 계층들이 주고받는 객체</a:t>
            </a:r>
            <a:endParaRPr lang="en-US" sz="2400"/>
          </a:p>
        </p:txBody>
      </p:sp>
      <p:sp>
        <p:nvSpPr>
          <p:cNvPr id="4116" name="Rectangle 4115">
            <a:extLst>
              <a:ext uri="{FF2B5EF4-FFF2-40B4-BE49-F238E27FC236}">
                <a16:creationId xmlns:a16="http://schemas.microsoft.com/office/drawing/2014/main" id="{CB8B9C25-D80D-48EC-B83A-231219A80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82975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6750810-0246-1C91-C0FF-89DCBA4A2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78" y="285140"/>
            <a:ext cx="4596579" cy="3143860"/>
          </a:xfrm>
          <a:prstGeom prst="rect">
            <a:avLst/>
          </a:prstGeom>
        </p:spPr>
      </p:pic>
      <p:sp>
        <p:nvSpPr>
          <p:cNvPr id="4118" name="Rectangle 4117">
            <a:extLst>
              <a:ext uri="{FF2B5EF4-FFF2-40B4-BE49-F238E27FC236}">
                <a16:creationId xmlns:a16="http://schemas.microsoft.com/office/drawing/2014/main" id="{601CC70B-8875-45A1-8AFD-7D546E3C0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897" y="4177748"/>
            <a:ext cx="4824407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식품 일러스트 백터 ai 다운로드 download food Vector - 어반브러시">
            <a:extLst>
              <a:ext uri="{FF2B5EF4-FFF2-40B4-BE49-F238E27FC236}">
                <a16:creationId xmlns:a16="http://schemas.microsoft.com/office/drawing/2014/main" id="{4C5A14D2-BFA1-23ED-B633-B72078AD5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02508" y="3522180"/>
            <a:ext cx="3157896" cy="314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968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90" name="Rectangle 7189">
            <a:extLst>
              <a:ext uri="{FF2B5EF4-FFF2-40B4-BE49-F238E27FC236}">
                <a16:creationId xmlns:a16="http://schemas.microsoft.com/office/drawing/2014/main" id="{139AB947-785D-482B-A71B-C1C825A20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192" name="Freeform: Shape 7191">
            <a:extLst>
              <a:ext uri="{FF2B5EF4-FFF2-40B4-BE49-F238E27FC236}">
                <a16:creationId xmlns:a16="http://schemas.microsoft.com/office/drawing/2014/main" id="{468A839C-B241-4F23-9A1D-CBCAFE6F5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194" name="Freeform: Shape 7193">
            <a:extLst>
              <a:ext uri="{FF2B5EF4-FFF2-40B4-BE49-F238E27FC236}">
                <a16:creationId xmlns:a16="http://schemas.microsoft.com/office/drawing/2014/main" id="{AF68CAD5-0452-48EC-94D8-91ED8F5EB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80E8D97-A860-2FFB-306D-64C73E1D5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4837176" cy="1170432"/>
          </a:xfrm>
        </p:spPr>
        <p:txBody>
          <a:bodyPr anchor="b">
            <a:normAutofit/>
          </a:bodyPr>
          <a:lstStyle/>
          <a:p>
            <a:r>
              <a:rPr lang="en-US" altLang="ko-KR" sz="3400"/>
              <a:t>Maven vs gradle</a:t>
            </a:r>
            <a:endParaRPr lang="ko-KR" altLang="en-US" sz="3400"/>
          </a:p>
        </p:txBody>
      </p:sp>
      <p:sp>
        <p:nvSpPr>
          <p:cNvPr id="7196" name="Rectangle 7195">
            <a:extLst>
              <a:ext uri="{FF2B5EF4-FFF2-40B4-BE49-F238E27FC236}">
                <a16:creationId xmlns:a16="http://schemas.microsoft.com/office/drawing/2014/main" id="{F89F292F-513F-4E95-9E51-6B736F17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3236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98" name="Rectangle 7197">
            <a:extLst>
              <a:ext uri="{FF2B5EF4-FFF2-40B4-BE49-F238E27FC236}">
                <a16:creationId xmlns:a16="http://schemas.microsoft.com/office/drawing/2014/main" id="{13A52E0E-6908-496E-BB67-DDBF1EEC3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92" y="2185062"/>
            <a:ext cx="49377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649E63-43FB-DBA7-69C5-709DDC75B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4600"/>
            <a:ext cx="4837176" cy="3666744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외부 라이브러리를 관리하고 프로젝트를 빌드해 주는 역할</a:t>
            </a:r>
          </a:p>
          <a:p>
            <a:r>
              <a:rPr lang="ko-KR" altLang="en-US" sz="1800" dirty="0"/>
              <a:t>어떤 라이브러리</a:t>
            </a:r>
            <a:r>
              <a:rPr lang="en-US" altLang="ko-KR" sz="1800" dirty="0"/>
              <a:t>(JPA, MySQL </a:t>
            </a:r>
            <a:r>
              <a:rPr lang="ko-KR" altLang="en-US" sz="1800" dirty="0"/>
              <a:t>드라이버 등</a:t>
            </a:r>
            <a:r>
              <a:rPr lang="en-US" altLang="ko-KR" sz="1800" dirty="0"/>
              <a:t>)</a:t>
            </a:r>
            <a:r>
              <a:rPr lang="ko-KR" altLang="en-US" sz="1800" dirty="0"/>
              <a:t>를 다운로드해 올 것인지</a:t>
            </a:r>
            <a:r>
              <a:rPr lang="en-US" altLang="ko-KR" sz="1800" dirty="0"/>
              <a:t>, </a:t>
            </a:r>
            <a:r>
              <a:rPr lang="ko-KR" altLang="en-US" sz="1800" dirty="0"/>
              <a:t>프로젝트를 어떻게 빌드할 것인지 설정하는 </a:t>
            </a:r>
            <a:r>
              <a:rPr lang="en-US" altLang="ko-KR" sz="1800" dirty="0"/>
              <a:t>'</a:t>
            </a:r>
            <a:r>
              <a:rPr lang="ko-KR" altLang="en-US" sz="1800" dirty="0"/>
              <a:t>빌드 툴</a:t>
            </a:r>
            <a:r>
              <a:rPr lang="en-US" altLang="ko-KR" sz="1800" dirty="0"/>
              <a:t>'</a:t>
            </a:r>
            <a:r>
              <a:rPr lang="ko-KR" altLang="en-US" sz="1800" dirty="0"/>
              <a:t>의 영역</a:t>
            </a:r>
          </a:p>
        </p:txBody>
      </p:sp>
      <p:pic>
        <p:nvPicPr>
          <p:cNvPr id="7178" name="Picture 10" descr="Apache Maven stacked logo transparent PNG - StickPNG">
            <a:extLst>
              <a:ext uri="{FF2B5EF4-FFF2-40B4-BE49-F238E27FC236}">
                <a16:creationId xmlns:a16="http://schemas.microsoft.com/office/drawing/2014/main" id="{E546C5EF-8BA6-B870-3F23-17B125FFD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68708" y="1142943"/>
            <a:ext cx="2505456" cy="1225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Gradle이란?">
            <a:extLst>
              <a:ext uri="{FF2B5EF4-FFF2-40B4-BE49-F238E27FC236}">
                <a16:creationId xmlns:a16="http://schemas.microsoft.com/office/drawing/2014/main" id="{9896B2E3-EE0D-AF1E-10D3-2C0564300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85429" y="1253141"/>
            <a:ext cx="2505456" cy="100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15AD921-737C-B196-C3A4-0842BCFD7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197843"/>
              </p:ext>
            </p:extLst>
          </p:nvPr>
        </p:nvGraphicFramePr>
        <p:xfrm>
          <a:off x="6565393" y="3677958"/>
          <a:ext cx="5225493" cy="1952166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988317">
                  <a:extLst>
                    <a:ext uri="{9D8B030D-6E8A-4147-A177-3AD203B41FA5}">
                      <a16:colId xmlns:a16="http://schemas.microsoft.com/office/drawing/2014/main" val="4156592492"/>
                    </a:ext>
                  </a:extLst>
                </a:gridCol>
                <a:gridCol w="1618588">
                  <a:extLst>
                    <a:ext uri="{9D8B030D-6E8A-4147-A177-3AD203B41FA5}">
                      <a16:colId xmlns:a16="http://schemas.microsoft.com/office/drawing/2014/main" val="16620324"/>
                    </a:ext>
                  </a:extLst>
                </a:gridCol>
                <a:gridCol w="1618588">
                  <a:extLst>
                    <a:ext uri="{9D8B030D-6E8A-4147-A177-3AD203B41FA5}">
                      <a16:colId xmlns:a16="http://schemas.microsoft.com/office/drawing/2014/main" val="1060863724"/>
                    </a:ext>
                  </a:extLst>
                </a:gridCol>
              </a:tblGrid>
              <a:tr h="650722">
                <a:tc>
                  <a:txBody>
                    <a:bodyPr/>
                    <a:lstStyle/>
                    <a:p>
                      <a:pPr latinLnBrk="1"/>
                      <a:endParaRPr lang="ko-KR" altLang="en-US" sz="2900"/>
                    </a:p>
                  </a:txBody>
                  <a:tcPr marL="147891" marR="147891" marT="73946" marB="7394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900"/>
                        <a:t>Maven</a:t>
                      </a:r>
                      <a:endParaRPr lang="ko-KR" altLang="en-US" sz="2900"/>
                    </a:p>
                  </a:txBody>
                  <a:tcPr marL="147891" marR="147891" marT="73946" marB="7394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900"/>
                        <a:t>Gradle</a:t>
                      </a:r>
                      <a:endParaRPr lang="ko-KR" altLang="en-US" sz="2900"/>
                    </a:p>
                  </a:txBody>
                  <a:tcPr marL="147891" marR="147891" marT="73946" marB="73946"/>
                </a:tc>
                <a:extLst>
                  <a:ext uri="{0D108BD9-81ED-4DB2-BD59-A6C34878D82A}">
                    <a16:rowId xmlns:a16="http://schemas.microsoft.com/office/drawing/2014/main" val="3724177922"/>
                  </a:ext>
                </a:extLst>
              </a:tr>
              <a:tr h="65072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900"/>
                        <a:t>설정방식</a:t>
                      </a:r>
                    </a:p>
                  </a:txBody>
                  <a:tcPr marL="147891" marR="147891" marT="73946" marB="7394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900" dirty="0"/>
                        <a:t>Xml</a:t>
                      </a:r>
                      <a:endParaRPr lang="ko-KR" altLang="en-US" sz="2900" dirty="0"/>
                    </a:p>
                  </a:txBody>
                  <a:tcPr marL="147891" marR="147891" marT="73946" marB="7394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900"/>
                        <a:t>script</a:t>
                      </a:r>
                      <a:endParaRPr lang="ko-KR" altLang="en-US" sz="2900"/>
                    </a:p>
                  </a:txBody>
                  <a:tcPr marL="147891" marR="147891" marT="73946" marB="73946"/>
                </a:tc>
                <a:extLst>
                  <a:ext uri="{0D108BD9-81ED-4DB2-BD59-A6C34878D82A}">
                    <a16:rowId xmlns:a16="http://schemas.microsoft.com/office/drawing/2014/main" val="3974133717"/>
                  </a:ext>
                </a:extLst>
              </a:tr>
              <a:tr h="65072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900" dirty="0" err="1"/>
                        <a:t>빌드속도</a:t>
                      </a:r>
                      <a:endParaRPr lang="ko-KR" altLang="en-US" sz="2900" dirty="0"/>
                    </a:p>
                  </a:txBody>
                  <a:tcPr marL="147891" marR="147891" marT="73946" marB="7394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900"/>
                        <a:t>느림</a:t>
                      </a:r>
                    </a:p>
                  </a:txBody>
                  <a:tcPr marL="147891" marR="147891" marT="73946" marB="7394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900" dirty="0"/>
                        <a:t>빠름</a:t>
                      </a:r>
                    </a:p>
                  </a:txBody>
                  <a:tcPr marL="147891" marR="147891" marT="73946" marB="73946"/>
                </a:tc>
                <a:extLst>
                  <a:ext uri="{0D108BD9-81ED-4DB2-BD59-A6C34878D82A}">
                    <a16:rowId xmlns:a16="http://schemas.microsoft.com/office/drawing/2014/main" val="2647360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059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7D5D2E51-A652-4FCB-ADE3-8974F2723C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6" name="Picture 4" descr="10 설계도 및 설계 도면 아이디어 찾기 | 건축 도면, 책 디자인, 크레용 등">
            <a:extLst>
              <a:ext uri="{FF2B5EF4-FFF2-40B4-BE49-F238E27FC236}">
                <a16:creationId xmlns:a16="http://schemas.microsoft.com/office/drawing/2014/main" id="{5A46E3B9-A33B-7C94-E1B2-8CE8C4975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156" y="-6100"/>
            <a:ext cx="724684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47" name="Freeform: Shape 46">
            <a:extLst>
              <a:ext uri="{FF2B5EF4-FFF2-40B4-BE49-F238E27FC236}">
                <a16:creationId xmlns:a16="http://schemas.microsoft.com/office/drawing/2014/main" id="{08E18253-076D-4D89-968E-FCD8887E2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9" name="Freeform: Shape 48">
            <a:extLst>
              <a:ext uri="{FF2B5EF4-FFF2-40B4-BE49-F238E27FC236}">
                <a16:creationId xmlns:a16="http://schemas.microsoft.com/office/drawing/2014/main" id="{F6EBCC24-DE3B-4BAD-9624-83E1C2D66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0A758F2-6E16-52BF-7CCB-0DDF3A259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464" y="840440"/>
            <a:ext cx="4837176" cy="12435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2600" dirty="0"/>
              <a:t>pom.xml</a:t>
            </a:r>
            <a:br>
              <a:rPr lang="en-US" altLang="ko-KR" sz="2600" dirty="0"/>
            </a:br>
            <a:endParaRPr lang="en-US" altLang="ko-KR" sz="26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C07AF1D-AB44-447B-BC2F-DBECCC06C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FCD70E2-BD62-41E4-975D-E58B07928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F6F2FA-9DB5-9C81-C166-0AC519CF643A}"/>
              </a:ext>
            </a:extLst>
          </p:cNvPr>
          <p:cNvSpPr txBox="1"/>
          <p:nvPr/>
        </p:nvSpPr>
        <p:spPr>
          <a:xfrm rot="10800000" flipV="1">
            <a:off x="5959701" y="4950781"/>
            <a:ext cx="6360315" cy="486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dirty="0">
                <a:solidFill>
                  <a:srgbClr val="96607D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ko-KR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://mvnrepository.com/open-source/maven-plugins</a:t>
            </a:r>
            <a:endParaRPr lang="en-US" altLang="ko-KR" dirty="0">
              <a:solidFill>
                <a:schemeClr val="bg2"/>
              </a:solidFill>
            </a:endParaRPr>
          </a:p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8DE3BCC-37E4-B2AB-F43D-EC807EE77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402198" y="97714"/>
            <a:ext cx="3266661" cy="264599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3A21D31-A727-AEAF-0613-1F371FEA9E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357" y="2304388"/>
            <a:ext cx="5148072" cy="37580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F572CE-9D83-D911-15EA-C02F987197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1126" y="3044996"/>
            <a:ext cx="5228807" cy="185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822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598CDF-CC44-D0D3-AC9A-FABF9D95E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42868531-7023-34F4-C150-65324BB13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pic>
        <p:nvPicPr>
          <p:cNvPr id="8196" name="Picture 4" descr="10 설계도 및 설계 도면 아이디어 찾기 | 건축 도면, 책 디자인, 크레용 등">
            <a:extLst>
              <a:ext uri="{FF2B5EF4-FFF2-40B4-BE49-F238E27FC236}">
                <a16:creationId xmlns:a16="http://schemas.microsoft.com/office/drawing/2014/main" id="{C0F2EB10-DEBE-3A20-A595-04EB9D971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156" y="-6100"/>
            <a:ext cx="724684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47" name="Freeform: Shape 46">
            <a:extLst>
              <a:ext uri="{FF2B5EF4-FFF2-40B4-BE49-F238E27FC236}">
                <a16:creationId xmlns:a16="http://schemas.microsoft.com/office/drawing/2014/main" id="{FA775148-06AA-D55E-D3A9-4EDA327D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9" name="Freeform: Shape 48">
            <a:extLst>
              <a:ext uri="{FF2B5EF4-FFF2-40B4-BE49-F238E27FC236}">
                <a16:creationId xmlns:a16="http://schemas.microsoft.com/office/drawing/2014/main" id="{3839AA87-B2AF-1798-5EDF-AE16C8A85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45B5F0B-0A5D-8932-F8F8-EC2ED3D1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464" y="840440"/>
            <a:ext cx="4837176" cy="12435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en-US" altLang="ko-KR" sz="2600" dirty="0" err="1"/>
              <a:t>build.gradle</a:t>
            </a:r>
            <a:r>
              <a:rPr lang="en-US" altLang="ko-KR" sz="2600" dirty="0"/>
              <a:t>(.kts)</a:t>
            </a:r>
            <a:br>
              <a:rPr lang="en-US" altLang="ko-KR" sz="2600" dirty="0"/>
            </a:br>
            <a:endParaRPr lang="en-US" altLang="ko-KR" sz="26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DF6C9B7-ECA7-A67C-DDE2-882CD96A0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CC0E6F6-929C-B8D9-032E-31E30741C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9F7071-B8F2-817B-7102-D7C181602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464" y="2478982"/>
            <a:ext cx="10515600" cy="4351338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Groovy               Kotlin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1357E73-A6DD-45F8-2DE0-3A3FAA296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07" y="2240710"/>
            <a:ext cx="2497471" cy="37768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714A2E7-A764-E0F0-068F-0D926DDC6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881" y="2245661"/>
            <a:ext cx="2427269" cy="377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77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225" name="Freeform: Shape 9224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9227" name="Freeform: Shape 9226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E72321B-5BAF-F36A-F569-ACCC2DEE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>
            <a:normAutofit/>
          </a:bodyPr>
          <a:lstStyle/>
          <a:p>
            <a:r>
              <a:rPr lang="en-US" altLang="ko-KR" sz="3400"/>
              <a:t>application.properties</a:t>
            </a:r>
            <a:endParaRPr lang="ko-KR" altLang="en-US" sz="3400"/>
          </a:p>
        </p:txBody>
      </p:sp>
      <p:sp>
        <p:nvSpPr>
          <p:cNvPr id="9229" name="Rectangle 9228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231" name="Rectangle 9230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C00421-02B3-D92B-65C5-D6A9F95FA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ko-KR" altLang="en-US" sz="1800" dirty="0" err="1">
                <a:latin typeface="+mj-lt"/>
              </a:rPr>
              <a:t>스프링부트</a:t>
            </a:r>
            <a:r>
              <a:rPr lang="ko-KR" altLang="en-US" sz="1800" dirty="0">
                <a:latin typeface="+mj-lt"/>
              </a:rPr>
              <a:t> 애플리케이션 자체의 실행 환경</a:t>
            </a:r>
            <a:r>
              <a:rPr lang="en-US" altLang="ko-KR" sz="1800" dirty="0">
                <a:latin typeface="+mj-lt"/>
              </a:rPr>
              <a:t>'</a:t>
            </a:r>
            <a:r>
              <a:rPr lang="ko-KR" altLang="en-US" sz="1800" dirty="0">
                <a:latin typeface="+mj-lt"/>
              </a:rPr>
              <a:t> 을 설정</a:t>
            </a:r>
            <a:endParaRPr lang="en-US" altLang="ko-KR" sz="1800" dirty="0">
              <a:latin typeface="+mj-lt"/>
            </a:endParaRPr>
          </a:p>
          <a:p>
            <a:r>
              <a:rPr lang="ko-KR" altLang="en-US" sz="1800" dirty="0">
                <a:latin typeface="+mj-lt"/>
              </a:rPr>
              <a:t>서버를 몇 번 포트로 띄울 것인지</a:t>
            </a:r>
            <a:r>
              <a:rPr lang="en-US" altLang="ko-KR" sz="1800" dirty="0">
                <a:latin typeface="+mj-lt"/>
              </a:rPr>
              <a:t>, </a:t>
            </a:r>
            <a:r>
              <a:rPr lang="ko-KR" altLang="en-US" sz="1800" dirty="0">
                <a:latin typeface="+mj-lt"/>
              </a:rPr>
              <a:t>데이터베이스 연결</a:t>
            </a:r>
            <a:r>
              <a:rPr lang="en-US" altLang="ko-KR" sz="1800" dirty="0">
                <a:latin typeface="+mj-lt"/>
              </a:rPr>
              <a:t>,</a:t>
            </a:r>
            <a:r>
              <a:rPr lang="ko-KR" altLang="en-US" sz="1800" dirty="0">
                <a:latin typeface="+mj-lt"/>
              </a:rPr>
              <a:t> 아이디와 비밀번호는 무엇인지 등 프로그램이 실행되는 데 필요한 </a:t>
            </a:r>
            <a:r>
              <a:rPr lang="ko-KR" altLang="en-US" sz="1800" dirty="0" err="1">
                <a:latin typeface="+mj-lt"/>
              </a:rPr>
              <a:t>설정값을</a:t>
            </a:r>
            <a:r>
              <a:rPr lang="ko-KR" altLang="en-US" sz="1800" dirty="0">
                <a:latin typeface="+mj-lt"/>
              </a:rPr>
              <a:t> 적는 </a:t>
            </a:r>
            <a:r>
              <a:rPr lang="en-US" altLang="ko-KR" sz="1800" dirty="0">
                <a:latin typeface="+mj-lt"/>
              </a:rPr>
              <a:t>'</a:t>
            </a:r>
            <a:r>
              <a:rPr lang="ko-KR" altLang="en-US" sz="1800" dirty="0" err="1">
                <a:latin typeface="+mj-lt"/>
              </a:rPr>
              <a:t>스프링부트</a:t>
            </a:r>
            <a:r>
              <a:rPr lang="en-US" altLang="ko-KR" sz="1800" dirty="0">
                <a:latin typeface="+mj-lt"/>
              </a:rPr>
              <a:t>'</a:t>
            </a:r>
            <a:r>
              <a:rPr lang="ko-KR" altLang="en-US" sz="1800" dirty="0">
                <a:latin typeface="+mj-lt"/>
              </a:rPr>
              <a:t>의 영역</a:t>
            </a:r>
            <a:endParaRPr lang="en-US" altLang="ko-KR" sz="1800" dirty="0">
              <a:latin typeface="+mj-lt"/>
            </a:endParaRPr>
          </a:p>
          <a:p>
            <a:r>
              <a:rPr lang="en-US" altLang="ko-KR" sz="1800" dirty="0" err="1">
                <a:latin typeface="+mj-lt"/>
              </a:rPr>
              <a:t>application.yml</a:t>
            </a:r>
            <a:r>
              <a:rPr lang="ko-KR" altLang="en-US" sz="1800" dirty="0">
                <a:latin typeface="+mj-lt"/>
              </a:rPr>
              <a:t>도 같은 역할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889728-CA48-E899-3692-1BB2F803F99C}"/>
              </a:ext>
            </a:extLst>
          </p:cNvPr>
          <p:cNvSpPr/>
          <p:nvPr/>
        </p:nvSpPr>
        <p:spPr>
          <a:xfrm>
            <a:off x="8097955" y="3429000"/>
            <a:ext cx="2092090" cy="2743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</a:ln>
              <a:noFill/>
            </a:endParaRPr>
          </a:p>
        </p:txBody>
      </p:sp>
      <p:pic>
        <p:nvPicPr>
          <p:cNvPr id="9218" name="Picture 2" descr="매뉴얼] 희망티움센터 업무매뉴얼 | 매뉴얼 | 복지연구 | 복지자료 : 대전광역시사회서비스원">
            <a:extLst>
              <a:ext uri="{FF2B5EF4-FFF2-40B4-BE49-F238E27FC236}">
                <a16:creationId xmlns:a16="http://schemas.microsoft.com/office/drawing/2014/main" id="{4B0DD35C-0E58-9147-B22E-A5DED62D4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97955" y="3433762"/>
            <a:ext cx="209209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7F0F362-A37E-58F2-F3E4-250ACB257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685" y="434447"/>
            <a:ext cx="481263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78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EC1332-B73F-089B-2430-8A1E8464C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F2EB4D3F-D9E7-6BB7-2D97-F809BEB1C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 useBgFill="1">
        <p:nvSpPr>
          <p:cNvPr id="9225" name="Freeform: Shape 9224">
            <a:extLst>
              <a:ext uri="{FF2B5EF4-FFF2-40B4-BE49-F238E27FC236}">
                <a16:creationId xmlns:a16="http://schemas.microsoft.com/office/drawing/2014/main" id="{6811F57E-1DAF-1705-121F-EF1D94FE7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9227" name="Freeform: Shape 9226">
            <a:extLst>
              <a:ext uri="{FF2B5EF4-FFF2-40B4-BE49-F238E27FC236}">
                <a16:creationId xmlns:a16="http://schemas.microsoft.com/office/drawing/2014/main" id="{72231126-E408-3D77-6A76-A12699A21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3E15F3A-CCC6-D043-1530-E9AA0B8A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Annotation &amp; Lombok</a:t>
            </a:r>
            <a:endParaRPr lang="ko-KR" altLang="en-US" sz="3400" dirty="0"/>
          </a:p>
        </p:txBody>
      </p:sp>
      <p:sp>
        <p:nvSpPr>
          <p:cNvPr id="9229" name="Rectangle 9228">
            <a:extLst>
              <a:ext uri="{FF2B5EF4-FFF2-40B4-BE49-F238E27FC236}">
                <a16:creationId xmlns:a16="http://schemas.microsoft.com/office/drawing/2014/main" id="{00FA3AC8-3091-B931-DFF7-DE02537EA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31" name="Rectangle 9230">
            <a:extLst>
              <a:ext uri="{FF2B5EF4-FFF2-40B4-BE49-F238E27FC236}">
                <a16:creationId xmlns:a16="http://schemas.microsoft.com/office/drawing/2014/main" id="{6829C4BF-CA16-6413-8091-3F60A9363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1CD084-9D2B-A945-1CB1-111A13DC4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@RestController, @Service, @Repository </a:t>
            </a:r>
            <a:r>
              <a:rPr lang="ko-KR" altLang="en-US" sz="1800" dirty="0"/>
              <a:t>등등 </a:t>
            </a:r>
            <a:r>
              <a:rPr lang="en-US" altLang="ko-KR" sz="1800" dirty="0"/>
              <a:t>code</a:t>
            </a:r>
            <a:r>
              <a:rPr lang="ko-KR" altLang="en-US" sz="1800" dirty="0"/>
              <a:t>위에</a:t>
            </a:r>
            <a:r>
              <a:rPr lang="en-US" altLang="ko-KR" sz="1800" dirty="0"/>
              <a:t> </a:t>
            </a:r>
            <a:r>
              <a:rPr lang="ko-KR" altLang="en-US" sz="1800" dirty="0"/>
              <a:t>작성하는 주석</a:t>
            </a:r>
            <a:endParaRPr lang="en-US" altLang="ko-KR" sz="1800" dirty="0"/>
          </a:p>
          <a:p>
            <a:r>
              <a:rPr lang="ko-KR" altLang="en-US" sz="1800" dirty="0"/>
              <a:t>컴파일러나 스프링 프레임워크 같은 실행 환경에게 해당 코드의 목적을 알려주는 표식 역할</a:t>
            </a:r>
            <a:endParaRPr lang="en-US" altLang="ko-KR" sz="1800" dirty="0"/>
          </a:p>
          <a:p>
            <a:r>
              <a:rPr lang="ko-KR" altLang="en-US" sz="1800" dirty="0"/>
              <a:t>개발자가 기계적으로 반복해서 작성해야 하는 코드</a:t>
            </a:r>
            <a:r>
              <a:rPr lang="en-US" altLang="ko-KR" sz="1800" dirty="0"/>
              <a:t>(Getter, Setter, </a:t>
            </a:r>
            <a:r>
              <a:rPr lang="ko-KR" altLang="en-US" sz="1800" dirty="0"/>
              <a:t>생성자 등</a:t>
            </a:r>
            <a:r>
              <a:rPr lang="en-US" altLang="ko-KR" sz="1800" dirty="0"/>
              <a:t>)</a:t>
            </a:r>
            <a:r>
              <a:rPr lang="ko-KR" altLang="en-US" sz="1800" dirty="0"/>
              <a:t>를 컴파일 시점에 자동으로 만들어주는 외부 라이브러리</a:t>
            </a:r>
            <a:endParaRPr lang="en-US" altLang="ko-KR" sz="1800" dirty="0"/>
          </a:p>
          <a:p>
            <a:r>
              <a:rPr lang="en-US" altLang="ko-KR" sz="1800" dirty="0"/>
              <a:t>Bean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스프링이 프로그램이 켜질 때 이 표식이 붙은 클래스들을 찾아 스스로 메모리에 올려 만드는 객체</a:t>
            </a:r>
            <a:endParaRPr lang="en-US" altLang="ko-KR" sz="1800" dirty="0"/>
          </a:p>
          <a:p>
            <a:endParaRPr lang="ko-KR" alt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159DF2-D7E4-208A-E130-9800D545E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066" y="1334538"/>
            <a:ext cx="4305905" cy="13319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D5236BE-B14A-0871-81B1-CAA995BF8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66" y="4460765"/>
            <a:ext cx="4305905" cy="80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489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014491-7FA1-5478-1BD3-6CD615C75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C0FF01E4-70DE-D619-66A2-C05272252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 useBgFill="1">
        <p:nvSpPr>
          <p:cNvPr id="9225" name="Freeform: Shape 9224">
            <a:extLst>
              <a:ext uri="{FF2B5EF4-FFF2-40B4-BE49-F238E27FC236}">
                <a16:creationId xmlns:a16="http://schemas.microsoft.com/office/drawing/2014/main" id="{4A85AB0C-8EBC-AB22-2CCC-580711503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9227" name="Freeform: Shape 9226">
            <a:extLst>
              <a:ext uri="{FF2B5EF4-FFF2-40B4-BE49-F238E27FC236}">
                <a16:creationId xmlns:a16="http://schemas.microsoft.com/office/drawing/2014/main" id="{E99923E3-ED92-D954-7A6E-A88920EBC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3AB697-2AF1-FE93-DBE3-026A67994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>
            <a:normAutofit/>
          </a:bodyPr>
          <a:lstStyle/>
          <a:p>
            <a:r>
              <a:rPr lang="en-US" altLang="ko-KR" sz="3400" dirty="0"/>
              <a:t>IOC</a:t>
            </a:r>
            <a:r>
              <a:rPr lang="ko-KR" altLang="en-US" sz="3400" dirty="0"/>
              <a:t> </a:t>
            </a:r>
            <a:r>
              <a:rPr lang="en-US" altLang="ko-KR" sz="3400" dirty="0"/>
              <a:t>&amp;</a:t>
            </a:r>
            <a:r>
              <a:rPr lang="ko-KR" altLang="en-US" sz="3400" dirty="0"/>
              <a:t> </a:t>
            </a:r>
            <a:r>
              <a:rPr lang="en-US" altLang="ko-KR" sz="3400" dirty="0"/>
              <a:t>DI</a:t>
            </a:r>
            <a:endParaRPr lang="ko-KR" altLang="en-US" sz="3400" dirty="0"/>
          </a:p>
        </p:txBody>
      </p:sp>
      <p:sp>
        <p:nvSpPr>
          <p:cNvPr id="9229" name="Rectangle 9228">
            <a:extLst>
              <a:ext uri="{FF2B5EF4-FFF2-40B4-BE49-F238E27FC236}">
                <a16:creationId xmlns:a16="http://schemas.microsoft.com/office/drawing/2014/main" id="{6D4C9DFC-E55C-CF13-C2C8-032FA3EA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31" name="Rectangle 9230">
            <a:extLst>
              <a:ext uri="{FF2B5EF4-FFF2-40B4-BE49-F238E27FC236}">
                <a16:creationId xmlns:a16="http://schemas.microsoft.com/office/drawing/2014/main" id="{68597DCD-9950-2155-19F0-4BF586515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EDDD0B-0AA6-C9BE-CF52-90D9260B1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IoC (</a:t>
            </a:r>
            <a:r>
              <a:rPr lang="ko-KR" altLang="en-US" sz="1800" dirty="0"/>
              <a:t>제어의 역전</a:t>
            </a:r>
            <a:r>
              <a:rPr lang="en-US" altLang="ko-KR" sz="1800" dirty="0"/>
              <a:t>, </a:t>
            </a:r>
            <a:r>
              <a:rPr lang="ko-KR" altLang="en-US" sz="1800" dirty="0"/>
              <a:t>개념</a:t>
            </a:r>
            <a:r>
              <a:rPr lang="en-US" altLang="ko-KR" sz="1800" dirty="0"/>
              <a:t>) : </a:t>
            </a:r>
            <a:r>
              <a:rPr lang="ko-KR" altLang="en-US" sz="1800" dirty="0">
                <a:latin typeface="+mj-lt"/>
              </a:rPr>
              <a:t>스프링 컨테이너가 알아서 </a:t>
            </a:r>
            <a:r>
              <a:rPr lang="en-US" altLang="ko-KR" sz="1800" dirty="0">
                <a:latin typeface="+mj-lt"/>
              </a:rPr>
              <a:t>Bean</a:t>
            </a:r>
            <a:r>
              <a:rPr lang="ko-KR" altLang="en-US" sz="1800" dirty="0">
                <a:latin typeface="+mj-lt"/>
              </a:rPr>
              <a:t>을 만들고 관리함 </a:t>
            </a:r>
            <a:r>
              <a:rPr lang="en-US" altLang="ko-KR" sz="1800" dirty="0">
                <a:latin typeface="+mj-lt"/>
              </a:rPr>
              <a:t>– new </a:t>
            </a:r>
            <a:r>
              <a:rPr lang="ko-KR" altLang="en-US" sz="1800" dirty="0">
                <a:latin typeface="+mj-lt"/>
              </a:rPr>
              <a:t>연산자 </a:t>
            </a:r>
            <a:r>
              <a:rPr lang="ko-KR" altLang="en-US" sz="1800" dirty="0" err="1">
                <a:latin typeface="+mj-lt"/>
              </a:rPr>
              <a:t>안씀</a:t>
            </a:r>
            <a:br>
              <a:rPr lang="ko-KR" altLang="en-US" sz="1800" dirty="0"/>
            </a:br>
            <a:endParaRPr lang="en-US" altLang="ko-KR" sz="1800" dirty="0"/>
          </a:p>
          <a:p>
            <a:r>
              <a:rPr lang="en-US" altLang="ko-KR" sz="1800" dirty="0"/>
              <a:t>DI (</a:t>
            </a:r>
            <a:r>
              <a:rPr lang="ko-KR" altLang="en-US" sz="1800" dirty="0"/>
              <a:t>의존성 주입</a:t>
            </a:r>
            <a:r>
              <a:rPr lang="en-US" altLang="ko-KR" sz="1800" dirty="0"/>
              <a:t>, </a:t>
            </a:r>
            <a:r>
              <a:rPr lang="ko-KR" altLang="en-US" sz="1800" dirty="0"/>
              <a:t>디자인 패턴</a:t>
            </a:r>
            <a:r>
              <a:rPr lang="en-US" altLang="ko-KR" sz="1800" dirty="0"/>
              <a:t>) : private final </a:t>
            </a:r>
            <a:r>
              <a:rPr lang="en-US" altLang="ko-KR" sz="1800" dirty="0" err="1"/>
              <a:t>MemberService</a:t>
            </a:r>
            <a:r>
              <a:rPr lang="en-US" altLang="ko-KR" sz="1800" dirty="0"/>
              <a:t> </a:t>
            </a:r>
            <a:r>
              <a:rPr lang="en-US" altLang="ko-KR" sz="1800" dirty="0" err="1"/>
              <a:t>memberService</a:t>
            </a:r>
            <a:r>
              <a:rPr lang="en-US" altLang="ko-KR" sz="1800" dirty="0"/>
              <a:t>;</a:t>
            </a:r>
            <a:r>
              <a:rPr lang="ko-KR" altLang="en-US" sz="1800" dirty="0"/>
              <a:t>만 하면 알아서 </a:t>
            </a:r>
            <a:r>
              <a:rPr lang="ko-KR" altLang="en-US" sz="1800" dirty="0" err="1"/>
              <a:t>넣어줌</a:t>
            </a:r>
            <a:endParaRPr lang="ko-KR" altLang="en-US" sz="18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AD8B506-3837-4A26-18A4-32C3909AC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206" y="2531358"/>
            <a:ext cx="5871589" cy="547233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7578754-AC60-32E1-0C6D-C555F8EFDE19}"/>
              </a:ext>
            </a:extLst>
          </p:cNvPr>
          <p:cNvCxnSpPr>
            <a:cxnSpLocks/>
          </p:cNvCxnSpPr>
          <p:nvPr/>
        </p:nvCxnSpPr>
        <p:spPr>
          <a:xfrm>
            <a:off x="7439817" y="2016504"/>
            <a:ext cx="3569587" cy="14124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D6BB925-AA76-2FF5-C8BF-A5397A436B2C}"/>
              </a:ext>
            </a:extLst>
          </p:cNvPr>
          <p:cNvCxnSpPr>
            <a:cxnSpLocks/>
          </p:cNvCxnSpPr>
          <p:nvPr/>
        </p:nvCxnSpPr>
        <p:spPr>
          <a:xfrm flipH="1">
            <a:off x="7351327" y="2016504"/>
            <a:ext cx="3658077" cy="14124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B327C90F-006E-D77A-FF73-9485D5572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206" y="4014195"/>
            <a:ext cx="5871589" cy="82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560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FF986-8A08-2CF7-59EE-9E3D6A5B3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8362173F-CFF1-D5BF-D10E-DF1958677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 useBgFill="1">
        <p:nvSpPr>
          <p:cNvPr id="9225" name="Freeform: Shape 9224">
            <a:extLst>
              <a:ext uri="{FF2B5EF4-FFF2-40B4-BE49-F238E27FC236}">
                <a16:creationId xmlns:a16="http://schemas.microsoft.com/office/drawing/2014/main" id="{709E460E-80E9-D349-2A85-0BC8EB1D0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9227" name="Freeform: Shape 9226">
            <a:extLst>
              <a:ext uri="{FF2B5EF4-FFF2-40B4-BE49-F238E27FC236}">
                <a16:creationId xmlns:a16="http://schemas.microsoft.com/office/drawing/2014/main" id="{A9EAD0E7-EE8A-5418-FF91-BC0E5028D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9917A8-85EE-8572-014A-3082E4988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>
            <a:normAutofit/>
          </a:bodyPr>
          <a:lstStyle/>
          <a:p>
            <a:r>
              <a:rPr lang="en-US" altLang="ko-KR" sz="3400" dirty="0"/>
              <a:t>JPA</a:t>
            </a:r>
            <a:r>
              <a:rPr lang="ko-KR" altLang="en-US" sz="3400" dirty="0"/>
              <a:t> </a:t>
            </a:r>
            <a:r>
              <a:rPr lang="en-US" altLang="ko-KR" sz="3400" dirty="0"/>
              <a:t>vs</a:t>
            </a:r>
            <a:r>
              <a:rPr lang="ko-KR" altLang="en-US" sz="3400" dirty="0"/>
              <a:t> </a:t>
            </a:r>
            <a:r>
              <a:rPr lang="en-US" altLang="ko-KR" sz="3400" dirty="0" err="1"/>
              <a:t>MyBatis</a:t>
            </a:r>
            <a:endParaRPr lang="ko-KR" altLang="en-US" sz="3400" dirty="0"/>
          </a:p>
        </p:txBody>
      </p:sp>
      <p:sp>
        <p:nvSpPr>
          <p:cNvPr id="9229" name="Rectangle 9228">
            <a:extLst>
              <a:ext uri="{FF2B5EF4-FFF2-40B4-BE49-F238E27FC236}">
                <a16:creationId xmlns:a16="http://schemas.microsoft.com/office/drawing/2014/main" id="{3D7D06FC-63F3-1A28-C297-B182A1926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31" name="Rectangle 9230">
            <a:extLst>
              <a:ext uri="{FF2B5EF4-FFF2-40B4-BE49-F238E27FC236}">
                <a16:creationId xmlns:a16="http://schemas.microsoft.com/office/drawing/2014/main" id="{42AD13D6-BA43-C211-A7CD-106626ADB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622F66-F263-0524-4999-40B247BAD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JPA : </a:t>
            </a:r>
            <a:r>
              <a:rPr lang="ko-KR" altLang="en-US" sz="2000" dirty="0"/>
              <a:t>개발자는 자바 객체</a:t>
            </a:r>
            <a:r>
              <a:rPr lang="en-US" altLang="ko-KR" sz="2000" dirty="0"/>
              <a:t>(Entity)</a:t>
            </a:r>
            <a:r>
              <a:rPr lang="ko-KR" altLang="en-US" sz="2000" dirty="0"/>
              <a:t>만 다루고</a:t>
            </a:r>
            <a:r>
              <a:rPr lang="en-US" altLang="ko-KR" sz="2000" dirty="0"/>
              <a:t>, </a:t>
            </a:r>
            <a:r>
              <a:rPr lang="ko-KR" altLang="en-US" sz="2000" dirty="0"/>
              <a:t>복잡한 </a:t>
            </a:r>
            <a:r>
              <a:rPr lang="en-US" altLang="ko-KR" sz="2000" dirty="0"/>
              <a:t>SQL</a:t>
            </a:r>
            <a:r>
              <a:rPr lang="ko-KR" altLang="en-US" sz="2000" dirty="0"/>
              <a:t>은 </a:t>
            </a:r>
            <a:r>
              <a:rPr lang="en-US" altLang="ko-KR" sz="2000" dirty="0"/>
              <a:t>JPA</a:t>
            </a:r>
            <a:r>
              <a:rPr lang="ko-KR" altLang="en-US" sz="2000" dirty="0"/>
              <a:t>가 알아서 생성하여 실행</a:t>
            </a:r>
          </a:p>
          <a:p>
            <a:pPr marL="0" indent="0">
              <a:buNone/>
            </a:pPr>
            <a:br>
              <a:rPr lang="ko-KR" altLang="en-US" sz="1800" dirty="0"/>
            </a:br>
            <a:endParaRPr lang="en-US" altLang="ko-KR" sz="1800" dirty="0"/>
          </a:p>
          <a:p>
            <a:r>
              <a:rPr lang="en-US" altLang="ko-KR" sz="2000" dirty="0" err="1"/>
              <a:t>Mybatis</a:t>
            </a:r>
            <a:r>
              <a:rPr lang="en-US" altLang="ko-KR" sz="2000" dirty="0"/>
              <a:t> : </a:t>
            </a:r>
            <a:r>
              <a:rPr lang="ko-KR" altLang="en-US" sz="2000" dirty="0"/>
              <a:t>개발자가 </a:t>
            </a:r>
            <a:r>
              <a:rPr lang="en-US" altLang="ko-KR" sz="2000" dirty="0"/>
              <a:t>SQL </a:t>
            </a:r>
            <a:r>
              <a:rPr lang="ko-KR" altLang="en-US" sz="2000" dirty="0"/>
              <a:t>쿼리문을 직접 작성하여 자바 객체와 연결</a:t>
            </a:r>
          </a:p>
          <a:p>
            <a:endParaRPr lang="ko-KR" altLang="en-US" sz="1800" dirty="0"/>
          </a:p>
        </p:txBody>
      </p:sp>
      <p:pic>
        <p:nvPicPr>
          <p:cNvPr id="1026" name="Picture 2" descr="Spring Data JPA">
            <a:extLst>
              <a:ext uri="{FF2B5EF4-FFF2-40B4-BE49-F238E27FC236}">
                <a16:creationId xmlns:a16="http://schemas.microsoft.com/office/drawing/2014/main" id="{F5DE720B-285C-21B3-9EFD-8740EF16D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31" y="5020868"/>
            <a:ext cx="2533650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yBatis] 마이바티스 기본 사용법">
            <a:extLst>
              <a:ext uri="{FF2B5EF4-FFF2-40B4-BE49-F238E27FC236}">
                <a16:creationId xmlns:a16="http://schemas.microsoft.com/office/drawing/2014/main" id="{3A7B6A8D-6504-9A4A-92A8-976236B6E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025" y="4926901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45EAF2A-7E2C-1D7D-BEF6-0B7D29485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477920"/>
              </p:ext>
            </p:extLst>
          </p:nvPr>
        </p:nvGraphicFramePr>
        <p:xfrm>
          <a:off x="6194007" y="522867"/>
          <a:ext cx="5967513" cy="5812266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060704">
                  <a:extLst>
                    <a:ext uri="{9D8B030D-6E8A-4147-A177-3AD203B41FA5}">
                      <a16:colId xmlns:a16="http://schemas.microsoft.com/office/drawing/2014/main" val="4156592492"/>
                    </a:ext>
                  </a:extLst>
                </a:gridCol>
                <a:gridCol w="2672080">
                  <a:extLst>
                    <a:ext uri="{9D8B030D-6E8A-4147-A177-3AD203B41FA5}">
                      <a16:colId xmlns:a16="http://schemas.microsoft.com/office/drawing/2014/main" val="16620324"/>
                    </a:ext>
                  </a:extLst>
                </a:gridCol>
                <a:gridCol w="2234729">
                  <a:extLst>
                    <a:ext uri="{9D8B030D-6E8A-4147-A177-3AD203B41FA5}">
                      <a16:colId xmlns:a16="http://schemas.microsoft.com/office/drawing/2014/main" val="1060863724"/>
                    </a:ext>
                  </a:extLst>
                </a:gridCol>
              </a:tblGrid>
              <a:tr h="367956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147891" marR="147891" marT="73946" marB="7394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JPA</a:t>
                      </a:r>
                      <a:endParaRPr lang="ko-KR" altLang="en-US" sz="1400" dirty="0"/>
                    </a:p>
                  </a:txBody>
                  <a:tcPr marL="147891" marR="147891" marT="73946" marB="7394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MyBatis</a:t>
                      </a:r>
                      <a:endParaRPr lang="ko-KR" altLang="en-US" sz="1400" dirty="0"/>
                    </a:p>
                  </a:txBody>
                  <a:tcPr marL="147891" marR="147891" marT="73946" marB="73946"/>
                </a:tc>
                <a:extLst>
                  <a:ext uri="{0D108BD9-81ED-4DB2-BD59-A6C34878D82A}">
                    <a16:rowId xmlns:a16="http://schemas.microsoft.com/office/drawing/2014/main" val="3724177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장점</a:t>
                      </a:r>
                    </a:p>
                  </a:txBody>
                  <a:tcPr marL="147891" marR="147891" marT="73946" marB="73946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객체 지향적인 코드 작성에만 집중할 수 있음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단순 반복적인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작성이 사라져 개발 생산성이 압도적으로 높아지며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테이블 구조가 변경되어도 자바 코드만 수정하면 끝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400" dirty="0"/>
                    </a:p>
                  </a:txBody>
                  <a:tcPr marL="147891" marR="147891" marT="73946" marB="7394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복잡한 통계 쿼리나 데이터베이스에 종속적인 강력한 기능을 세밀하게 튜닝할 때 유리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400" dirty="0"/>
                    </a:p>
                  </a:txBody>
                  <a:tcPr marL="147891" marR="147891" marT="73946" marB="73946"/>
                </a:tc>
                <a:extLst>
                  <a:ext uri="{0D108BD9-81ED-4DB2-BD59-A6C34878D82A}">
                    <a16:rowId xmlns:a16="http://schemas.microsoft.com/office/drawing/2014/main" val="1156620738"/>
                  </a:ext>
                </a:extLst>
              </a:tr>
              <a:tr h="5151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단점</a:t>
                      </a:r>
                    </a:p>
                  </a:txBody>
                  <a:tcPr marL="147891" marR="147891" marT="73946" marB="73946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초기 학습 곡선이 가파름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원리를 모르고 사용하면 성능 문제가 발생할 수 있음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400" dirty="0"/>
                    </a:p>
                  </a:txBody>
                  <a:tcPr marL="147891" marR="147891" marT="73946" marB="73946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단순한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CRUD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쿼리도 개발자가 일일이 다 작성해야 함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데이터베이스 테이블 구조가 바뀌면 관련된 모든 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문과 자바 코드를 다 수정해야 하는 엄청난 노동이 수반됨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400" dirty="0"/>
                    </a:p>
                  </a:txBody>
                  <a:tcPr marL="147891" marR="147891" marT="73946" marB="73946"/>
                </a:tc>
                <a:extLst>
                  <a:ext uri="{0D108BD9-81ED-4DB2-BD59-A6C34878D82A}">
                    <a16:rowId xmlns:a16="http://schemas.microsoft.com/office/drawing/2014/main" val="3974133717"/>
                  </a:ext>
                </a:extLst>
              </a:tr>
              <a:tr h="8813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사용</a:t>
                      </a:r>
                    </a:p>
                  </a:txBody>
                  <a:tcPr marL="147891" marR="147891" marT="73946" marB="7394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최신 스타트업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대기업의 신규 프로젝트</a:t>
                      </a:r>
                    </a:p>
                    <a:p>
                      <a:pPr latinLnBrk="1"/>
                      <a:endParaRPr lang="ko-KR" altLang="en-US" sz="1400" dirty="0"/>
                    </a:p>
                  </a:txBody>
                  <a:tcPr marL="147891" marR="147891" marT="73946" marB="7394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공공기관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기존 시스템</a:t>
                      </a:r>
                    </a:p>
                  </a:txBody>
                  <a:tcPr marL="147891" marR="147891" marT="73946" marB="73946"/>
                </a:tc>
                <a:extLst>
                  <a:ext uri="{0D108BD9-81ED-4DB2-BD59-A6C34878D82A}">
                    <a16:rowId xmlns:a16="http://schemas.microsoft.com/office/drawing/2014/main" val="2647360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993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4D1F7-5E62-A9CF-9426-E5781B35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B4D92908-4EB7-5A0A-C745-88D2E13E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 useBgFill="1">
        <p:nvSpPr>
          <p:cNvPr id="9225" name="Freeform: Shape 9224">
            <a:extLst>
              <a:ext uri="{FF2B5EF4-FFF2-40B4-BE49-F238E27FC236}">
                <a16:creationId xmlns:a16="http://schemas.microsoft.com/office/drawing/2014/main" id="{346FA56B-A838-240E-66D2-B96AF16F4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9227" name="Freeform: Shape 9226">
            <a:extLst>
              <a:ext uri="{FF2B5EF4-FFF2-40B4-BE49-F238E27FC236}">
                <a16:creationId xmlns:a16="http://schemas.microsoft.com/office/drawing/2014/main" id="{90A6CE95-F88B-3A1C-4331-7EEF89AE1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F6E6B8-3A80-BBF9-76ED-E7FCAB375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>
            <a:normAutofit/>
          </a:bodyPr>
          <a:lstStyle/>
          <a:p>
            <a:r>
              <a:rPr lang="en-US" altLang="ko-KR" sz="3400" dirty="0"/>
              <a:t>JPA</a:t>
            </a:r>
            <a:endParaRPr lang="ko-KR" altLang="en-US" sz="3400" dirty="0"/>
          </a:p>
        </p:txBody>
      </p:sp>
      <p:sp>
        <p:nvSpPr>
          <p:cNvPr id="9229" name="Rectangle 9228">
            <a:extLst>
              <a:ext uri="{FF2B5EF4-FFF2-40B4-BE49-F238E27FC236}">
                <a16:creationId xmlns:a16="http://schemas.microsoft.com/office/drawing/2014/main" id="{73A0DB94-977E-4BC2-9216-79F1F947A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31" name="Rectangle 9230">
            <a:extLst>
              <a:ext uri="{FF2B5EF4-FFF2-40B4-BE49-F238E27FC236}">
                <a16:creationId xmlns:a16="http://schemas.microsoft.com/office/drawing/2014/main" id="{99E4391A-115B-1871-27AE-26B30E2D0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B26B4B-8274-F6BF-45A2-DA681AC6C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en-US" altLang="ko-KR" dirty="0"/>
              <a:t>DB</a:t>
            </a:r>
            <a:r>
              <a:rPr lang="ko-KR" altLang="en-US" dirty="0"/>
              <a:t>의 테이블과 </a:t>
            </a:r>
            <a:r>
              <a:rPr lang="en-US" altLang="ko-KR" dirty="0" err="1"/>
              <a:t>Springboot</a:t>
            </a:r>
            <a:r>
              <a:rPr lang="ko-KR" altLang="en-US" dirty="0"/>
              <a:t>의 </a:t>
            </a:r>
            <a:r>
              <a:rPr lang="en-US" altLang="ko-KR" dirty="0"/>
              <a:t>E</a:t>
            </a:r>
            <a:r>
              <a:rPr lang="en-US" altLang="ko-KR"/>
              <a:t>ntity</a:t>
            </a:r>
            <a:r>
              <a:rPr lang="ko-KR" altLang="en-US" dirty="0"/>
              <a:t>를 연결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EE56B3-FE25-3433-A9B7-7454BDD77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105" y="194420"/>
            <a:ext cx="4594899" cy="352419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A55C40A-360D-88D9-45B3-06C3979E0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989" y="3892604"/>
            <a:ext cx="2124371" cy="2791410"/>
          </a:xfrm>
          <a:prstGeom prst="rect">
            <a:avLst/>
          </a:prstGeom>
        </p:spPr>
      </p:pic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109A58DA-9116-0816-406E-B48D04F03DF3}"/>
              </a:ext>
            </a:extLst>
          </p:cNvPr>
          <p:cNvCxnSpPr>
            <a:cxnSpLocks/>
          </p:cNvCxnSpPr>
          <p:nvPr/>
        </p:nvCxnSpPr>
        <p:spPr>
          <a:xfrm>
            <a:off x="7249026" y="3718618"/>
            <a:ext cx="2536332" cy="2098650"/>
          </a:xfrm>
          <a:prstGeom prst="bentConnector3">
            <a:avLst>
              <a:gd name="adj1" fmla="val 42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674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7FE38-61BB-2BBC-0749-D470B4ED5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85D604C-234B-7DB2-6A49-74DF2991E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24C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8A7DF424-71D8-D66C-715D-BB62A3C24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4721B76D-CBE5-8253-AAC8-03556F2D6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29886"/>
            <a:ext cx="10905066" cy="479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631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BECF6-CBE0-21A8-B057-2B146A017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F599A2-0A43-8DC7-ED6E-21568F13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83" y="1143000"/>
            <a:ext cx="4846320" cy="2898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5400"/>
              <a:t>Entity</a:t>
            </a: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22C50BCE-003C-1E8F-84C4-D6AB21479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183" y="4407408"/>
            <a:ext cx="4846320" cy="13350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2400"/>
              <a:t>각 계층들이 주고받는 객체</a:t>
            </a:r>
            <a:endParaRPr lang="en-US" sz="24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3EDC51-F40D-ED2C-2DE3-17B07282B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78" y="285140"/>
            <a:ext cx="4596579" cy="3143860"/>
          </a:xfrm>
          <a:prstGeom prst="rect">
            <a:avLst/>
          </a:prstGeom>
        </p:spPr>
      </p:pic>
      <p:pic>
        <p:nvPicPr>
          <p:cNvPr id="4098" name="Picture 2" descr="식품 일러스트 백터 ai 다운로드 download food Vector - 어반브러시">
            <a:extLst>
              <a:ext uri="{FF2B5EF4-FFF2-40B4-BE49-F238E27FC236}">
                <a16:creationId xmlns:a16="http://schemas.microsoft.com/office/drawing/2014/main" id="{5C54B4C8-B49C-9FA9-0C6C-A747B37FB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02508" y="3522180"/>
            <a:ext cx="3157896" cy="314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728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F26AB4-19AA-B0E8-C8C9-498844D94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162151"/>
            <a:ext cx="4777381" cy="436395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44FAF3-C9D8-3C52-68C4-89A20759F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US" altLang="ko-KR" dirty="0"/>
              <a:t>@Entity – </a:t>
            </a:r>
            <a:r>
              <a:rPr lang="ko-KR" altLang="en-US" dirty="0"/>
              <a:t>이 </a:t>
            </a:r>
            <a:r>
              <a:rPr lang="en-US" altLang="ko-KR" dirty="0"/>
              <a:t>class</a:t>
            </a:r>
            <a:r>
              <a:rPr lang="ko-KR" altLang="en-US" dirty="0"/>
              <a:t>가 엔티티다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@No/AllArgsConstrutor – </a:t>
            </a:r>
            <a:r>
              <a:rPr lang="ko-KR" altLang="en-US" dirty="0"/>
              <a:t>생성자</a:t>
            </a:r>
            <a:endParaRPr lang="en-US" altLang="ko-KR" dirty="0"/>
          </a:p>
          <a:p>
            <a:r>
              <a:rPr lang="en-US" altLang="ko-KR" dirty="0"/>
              <a:t>@Setter, Getter – get~(), set~()</a:t>
            </a:r>
          </a:p>
          <a:p>
            <a:r>
              <a:rPr lang="en-US" altLang="ko-KR" dirty="0"/>
              <a:t>@Bulider – </a:t>
            </a:r>
            <a:r>
              <a:rPr lang="ko-KR" altLang="en-US" dirty="0"/>
              <a:t>일반 생성자 대신 사용</a:t>
            </a:r>
          </a:p>
        </p:txBody>
      </p:sp>
    </p:spTree>
    <p:extLst>
      <p:ext uri="{BB962C8B-B14F-4D97-AF65-F5344CB8AC3E}">
        <p14:creationId xmlns:p14="http://schemas.microsoft.com/office/powerpoint/2010/main" val="384689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6E10C-0CE5-B963-9BD4-2556DE3AA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3FB1BB-6919-F4FF-61B6-1C74D9098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20" y="1624630"/>
            <a:ext cx="5573342" cy="360873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C40547-6C46-86A8-6437-CBC5615A9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US" altLang="ko-KR" dirty="0"/>
              <a:t>@GeneratedValue(strategy = </a:t>
            </a:r>
            <a:r>
              <a:rPr lang="en-US" altLang="ko-KR" dirty="0" err="1"/>
              <a:t>GenerationType.IDENTITY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자동증가</a:t>
            </a:r>
            <a:endParaRPr lang="en-US" altLang="ko-KR" dirty="0"/>
          </a:p>
          <a:p>
            <a:r>
              <a:rPr lang="en-US" altLang="ko-KR" dirty="0"/>
              <a:t>@ManyToOne(fetch = </a:t>
            </a:r>
            <a:r>
              <a:rPr lang="en-US" altLang="ko-KR" dirty="0" err="1"/>
              <a:t>FetchType.LAZY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Table</a:t>
            </a:r>
            <a:r>
              <a:rPr lang="ko-KR" altLang="en-US" dirty="0"/>
              <a:t>끼리 </a:t>
            </a:r>
            <a:r>
              <a:rPr lang="en-US" altLang="ko-KR" dirty="0"/>
              <a:t>N : 1 </a:t>
            </a:r>
            <a:r>
              <a:rPr lang="ko-KR" altLang="en-US" dirty="0"/>
              <a:t>관계 생성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21207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6ACB7-8BAC-87C8-0E1C-06855BC9A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7D7C2F-22DC-212E-942A-5D45242FEB7D}"/>
              </a:ext>
            </a:extLst>
          </p:cNvPr>
          <p:cNvSpPr txBox="1"/>
          <p:nvPr/>
        </p:nvSpPr>
        <p:spPr>
          <a:xfrm>
            <a:off x="1289303" y="767384"/>
            <a:ext cx="9471956" cy="1137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N+1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0153CF-BB00-639C-DB47-748D9E0F0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2" y="1904495"/>
            <a:ext cx="7745969" cy="183731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F7D6120-CFCA-F9E8-39FC-2E6D1002FD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9303" y="3905264"/>
            <a:ext cx="7745969" cy="23065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 latinLnBrk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ko-KR" sz="2000" dirty="0" err="1"/>
              <a:t>FetchType.LAZY</a:t>
            </a:r>
            <a:r>
              <a:rPr lang="en-US" altLang="ko-KR" sz="2000" dirty="0"/>
              <a:t> – board</a:t>
            </a:r>
            <a:r>
              <a:rPr lang="ko-KR" altLang="en-US" sz="2000" dirty="0"/>
              <a:t>를 조회할 때 </a:t>
            </a:r>
            <a:r>
              <a:rPr lang="en-US" altLang="ko-KR" sz="2000" dirty="0"/>
              <a:t>member </a:t>
            </a:r>
            <a:r>
              <a:rPr lang="ko-KR" altLang="en-US" sz="2000" dirty="0"/>
              <a:t>정보</a:t>
            </a:r>
            <a:endParaRPr lang="en-US" altLang="ko-KR" sz="2000" dirty="0"/>
          </a:p>
          <a:p>
            <a:pPr marL="0" marR="0" lvl="0" indent="0" fontAlgn="base" latinLnBrk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ko-KR" altLang="en-US" sz="2000" dirty="0"/>
              <a:t>  </a:t>
            </a:r>
            <a:r>
              <a:rPr lang="ko-KR" altLang="en-US" sz="2000" dirty="0" err="1"/>
              <a:t>안가져오다가</a:t>
            </a:r>
            <a:r>
              <a:rPr lang="ko-KR" altLang="en-US" sz="2000" dirty="0"/>
              <a:t> </a:t>
            </a:r>
            <a:r>
              <a:rPr lang="en-US" altLang="ko-KR" sz="2000" dirty="0" err="1"/>
              <a:t>board.getMember</a:t>
            </a:r>
            <a:r>
              <a:rPr lang="en-US" altLang="ko-KR" sz="2000" dirty="0"/>
              <a:t>() </a:t>
            </a:r>
            <a:r>
              <a:rPr lang="ko-KR" altLang="en-US" sz="2000" dirty="0"/>
              <a:t>했을 때 가져옴 </a:t>
            </a:r>
            <a:r>
              <a:rPr lang="en-US" altLang="ko-KR" sz="2000" dirty="0"/>
              <a:t>(</a:t>
            </a:r>
            <a:r>
              <a:rPr lang="ko-KR" altLang="en-US" sz="2000" dirty="0"/>
              <a:t>기본값</a:t>
            </a:r>
            <a:r>
              <a:rPr lang="en-US" altLang="ko-KR" sz="2000" dirty="0"/>
              <a:t>: </a:t>
            </a:r>
          </a:p>
          <a:p>
            <a:pPr marL="0" marR="0" lvl="0" indent="0" fontAlgn="base" latinLnBrk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ko-KR" sz="2000" dirty="0"/>
              <a:t>  EAGER)</a:t>
            </a:r>
          </a:p>
          <a:p>
            <a:pPr marL="0" marR="0" lvl="0" fontAlgn="base" latinLnBrk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ko-KR" sz="2000" dirty="0" err="1"/>
              <a:t>board.getMember</a:t>
            </a:r>
            <a:r>
              <a:rPr lang="en-US" altLang="ko-KR" sz="2000" dirty="0"/>
              <a:t>() or @toString </a:t>
            </a:r>
            <a:r>
              <a:rPr lang="en-US" altLang="ko-KR" sz="2000" dirty="0">
                <a:sym typeface="Wingdings" panose="05000000000000000000" pitchFamily="2" charset="2"/>
              </a:rPr>
              <a:t></a:t>
            </a:r>
          </a:p>
          <a:p>
            <a:pPr marL="0" marR="0" lvl="0" indent="0" fontAlgn="base" latinLnBrk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ko-KR" sz="2000" b="0" i="0" u="none" strike="noStrike" cap="none" normalizeH="0" baseline="0" dirty="0">
                <a:ln>
                  <a:noFill/>
                </a:ln>
                <a:effectLst/>
                <a:sym typeface="Wingdings" panose="05000000000000000000" pitchFamily="2" charset="2"/>
              </a:rPr>
              <a:t>	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effectLst/>
              </a:rPr>
              <a:t>SELECT * FROM board (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effectLst/>
              </a:rPr>
              <a:t>게시글 전체 조회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effectLst/>
              </a:rPr>
              <a:t>) 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effectLst/>
              </a:rPr>
              <a:t>→ 1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effectLst/>
              </a:rPr>
              <a:t>번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fontAlgn="base" latinLnBrk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ko-KR" sz="2000" b="0" i="0" u="none" strike="noStrike" cap="none" normalizeH="0" baseline="0" dirty="0">
                <a:ln>
                  <a:noFill/>
                </a:ln>
                <a:effectLst/>
              </a:rPr>
              <a:t>	SELECT * FROM member WHERE id = Board 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effectLst/>
              </a:rPr>
              <a:t>수만큼</a:t>
            </a:r>
            <a:endParaRPr lang="en-US" altLang="ko-KR" sz="2000" dirty="0"/>
          </a:p>
          <a:p>
            <a:pPr marL="0" marR="0" lvl="0" indent="0" fontAlgn="base" latinLnBrk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ko-KR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23002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5D432C-8BC2-A068-4B7B-D869E7413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6CCA824-DBD2-431D-CDEF-93A670DD6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0DD9FCF9-D744-CD42-D53F-3C9AB5FA6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6F63D6-F306-70AF-C3BB-327F43D48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7D0C05-FCEC-9540-6CF4-620A1AA08F6C}"/>
              </a:ext>
            </a:extLst>
          </p:cNvPr>
          <p:cNvSpPr txBox="1"/>
          <p:nvPr/>
        </p:nvSpPr>
        <p:spPr>
          <a:xfrm>
            <a:off x="1289303" y="767384"/>
            <a:ext cx="9471956" cy="1137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N+1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7AF5CB3-208C-5215-C77C-AB6B2F4966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23015" y="3463812"/>
            <a:ext cx="7745969" cy="23065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 latinLnBrk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ko-KR" sz="2000" dirty="0"/>
              <a:t>EAGER vs LAZY + Fetch join</a:t>
            </a:r>
          </a:p>
          <a:p>
            <a:pPr marL="0" marR="0" lvl="0" indent="0" fontAlgn="base" latinLnBrk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ko-KR" sz="2000" dirty="0"/>
              <a:t>	EAGER : </a:t>
            </a:r>
            <a:r>
              <a:rPr lang="ko-KR" altLang="en-US" sz="2000" dirty="0"/>
              <a:t>처음부터 </a:t>
            </a:r>
            <a:r>
              <a:rPr lang="en-US" altLang="ko-KR" sz="2000" dirty="0"/>
              <a:t>member</a:t>
            </a:r>
            <a:r>
              <a:rPr lang="ko-KR" altLang="en-US" sz="2000" dirty="0"/>
              <a:t>까지 한번에</a:t>
            </a:r>
            <a:endParaRPr lang="en-US" altLang="ko-KR" sz="2000" dirty="0"/>
          </a:p>
          <a:p>
            <a:pPr marL="0" marR="0" lvl="0" indent="0" fontAlgn="base" latinLnBrk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ko-KR" sz="2000" dirty="0"/>
              <a:t>	LAZY + Fetch join : Member</a:t>
            </a:r>
            <a:r>
              <a:rPr lang="ko-KR" altLang="en-US" sz="2000" dirty="0"/>
              <a:t>가 필요할 때만</a:t>
            </a:r>
            <a:r>
              <a:rPr lang="en-US" altLang="ko-KR" sz="2000" dirty="0"/>
              <a:t>, Fetch Join</a:t>
            </a:r>
            <a:r>
              <a:rPr lang="ko-KR" altLang="en-US" sz="2000" dirty="0"/>
              <a:t>이 </a:t>
            </a:r>
            <a:endParaRPr lang="en-US" altLang="ko-KR" sz="2000" dirty="0"/>
          </a:p>
          <a:p>
            <a:pPr marL="0" marR="0" lvl="0" indent="0" fontAlgn="base" latinLnBrk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ko-KR" sz="2000" dirty="0"/>
              <a:t>		</a:t>
            </a:r>
            <a:r>
              <a:rPr lang="ko-KR" altLang="en-US" sz="2000" dirty="0"/>
              <a:t>적용된 메서드를 호출하여 한 번에 가져옴</a:t>
            </a: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65F681-7ED8-A5EA-AFA4-923481D96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3" y="1855103"/>
            <a:ext cx="9602584" cy="85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33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2C0DE3-4C56-C399-5900-5904AF332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9" name="Rectangle 5148">
            <a:extLst>
              <a:ext uri="{FF2B5EF4-FFF2-40B4-BE49-F238E27FC236}">
                <a16:creationId xmlns:a16="http://schemas.microsoft.com/office/drawing/2014/main" id="{B3E6981E-D4BD-012F-C159-4C5CC0A40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1A2989E-115D-1EC6-3E3A-90AD1425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83" y="1143000"/>
            <a:ext cx="4846320" cy="2898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5400"/>
              <a:t>Repository</a:t>
            </a: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E5B8B8D5-73CF-FE06-024C-57DAB62A7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183" y="4407408"/>
            <a:ext cx="4846320" cy="13350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sz="2400"/>
              <a:t>DB</a:t>
            </a:r>
            <a:r>
              <a:rPr lang="ko-KR" altLang="en-US" sz="2400"/>
              <a:t>와 소통</a:t>
            </a:r>
            <a:endParaRPr lang="en-US" sz="2400"/>
          </a:p>
        </p:txBody>
      </p:sp>
      <p:sp>
        <p:nvSpPr>
          <p:cNvPr id="5151" name="Rectangle 5150">
            <a:extLst>
              <a:ext uri="{FF2B5EF4-FFF2-40B4-BE49-F238E27FC236}">
                <a16:creationId xmlns:a16="http://schemas.microsoft.com/office/drawing/2014/main" id="{DA275D0F-48D4-6197-6E45-05802D842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82975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E8E488-DFF6-A9BC-F013-3C67BC509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949" y="697882"/>
            <a:ext cx="6305008" cy="2632340"/>
          </a:xfrm>
          <a:prstGeom prst="rect">
            <a:avLst/>
          </a:prstGeom>
        </p:spPr>
      </p:pic>
      <p:sp>
        <p:nvSpPr>
          <p:cNvPr id="5153" name="Rectangle 5152">
            <a:extLst>
              <a:ext uri="{FF2B5EF4-FFF2-40B4-BE49-F238E27FC236}">
                <a16:creationId xmlns:a16="http://schemas.microsoft.com/office/drawing/2014/main" id="{0C4D8D72-F81D-AC83-A88F-1F8922419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897" y="4177748"/>
            <a:ext cx="4824407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22" name="Picture 2" descr="식자재왕, e왕마트 캐릭터 'e왕이' 공개">
            <a:extLst>
              <a:ext uri="{FF2B5EF4-FFF2-40B4-BE49-F238E27FC236}">
                <a16:creationId xmlns:a16="http://schemas.microsoft.com/office/drawing/2014/main" id="{8B5EAA15-A839-0F10-60E9-266596827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09526" y="3522180"/>
            <a:ext cx="3143861" cy="314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7509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1A5706-E791-BF24-7C33-CB0D6020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DC41EE5-9BAC-81C6-F0B1-E05F29329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2149783"/>
            <a:ext cx="4777381" cy="238869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6B06A3-E46F-9420-C3DB-14126518F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885558" cy="4192520"/>
          </a:xfrm>
        </p:spPr>
        <p:txBody>
          <a:bodyPr>
            <a:normAutofit/>
          </a:bodyPr>
          <a:lstStyle/>
          <a:p>
            <a:r>
              <a:rPr lang="en-US" altLang="ko-KR" dirty="0"/>
              <a:t>extends </a:t>
            </a:r>
            <a:r>
              <a:rPr lang="en-US" altLang="ko-KR" dirty="0" err="1"/>
              <a:t>JpaRepository</a:t>
            </a:r>
            <a:r>
              <a:rPr lang="en-US" altLang="ko-KR" dirty="0"/>
              <a:t>&lt;Board, Long&gt;</a:t>
            </a:r>
          </a:p>
          <a:p>
            <a:r>
              <a:rPr lang="en-US" altLang="ko-KR" dirty="0"/>
              <a:t>CRUD</a:t>
            </a:r>
            <a:r>
              <a:rPr lang="ko-KR" altLang="en-US" dirty="0"/>
              <a:t>는 이미 존재</a:t>
            </a:r>
            <a:endParaRPr lang="en-US" altLang="ko-KR" dirty="0"/>
          </a:p>
          <a:p>
            <a:r>
              <a:rPr lang="en-US" altLang="ko-KR" dirty="0"/>
              <a:t>@Query</a:t>
            </a:r>
          </a:p>
          <a:p>
            <a:r>
              <a:rPr lang="en-US" altLang="ko-KR" dirty="0"/>
              <a:t>JPA Query Method</a:t>
            </a:r>
          </a:p>
          <a:p>
            <a:r>
              <a:rPr lang="en-US" altLang="ko-KR" dirty="0">
                <a:hlinkClick r:id="rId3"/>
              </a:rPr>
              <a:t>https://docs.spring.io/spring-data/jpa/reference/jpa/query-methods.html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…</a:t>
            </a:r>
          </a:p>
        </p:txBody>
      </p:sp>
    </p:spTree>
    <p:extLst>
      <p:ext uri="{BB962C8B-B14F-4D97-AF65-F5344CB8AC3E}">
        <p14:creationId xmlns:p14="http://schemas.microsoft.com/office/powerpoint/2010/main" val="1764718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BBADC-7B8A-23AF-AF45-EE681556D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6508206-127D-410C-EBF0-68D628CA9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465B5529-71DA-1CAD-90E7-DE43F85D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DAC46D-0B50-3BFD-509C-777765D77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21CDE48-3F3E-4FA5-8F6D-4CCADF62E8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0055" y="1527380"/>
            <a:ext cx="7745969" cy="11816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 latinLnBrk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ko-KR" sz="2000" b="0" i="0" u="none" strike="noStrike" cap="none" normalizeH="0" baseline="0" dirty="0">
                <a:ln>
                  <a:noFill/>
                </a:ln>
                <a:effectLst/>
              </a:rPr>
              <a:t>SELECT m (*)</a:t>
            </a:r>
          </a:p>
          <a:p>
            <a:pPr marL="0" marR="0" lvl="0" fontAlgn="base" latinLnBrk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ko-KR" sz="2000" b="0" i="0" u="none" strike="noStrike" cap="none" normalizeH="0" baseline="0" dirty="0">
                <a:ln>
                  <a:noFill/>
                </a:ln>
                <a:effectLst/>
              </a:rPr>
              <a:t>FROM Member(</a:t>
            </a:r>
            <a:r>
              <a:rPr lang="en-US" altLang="ko-KR" sz="2000" dirty="0"/>
              <a:t>java</a:t>
            </a:r>
            <a:r>
              <a:rPr lang="ko-KR" altLang="en-US" sz="2000" dirty="0"/>
              <a:t> 객체</a:t>
            </a:r>
            <a:r>
              <a:rPr lang="en-US" altLang="ko-KR" sz="2000" dirty="0"/>
              <a:t>) m</a:t>
            </a:r>
          </a:p>
          <a:p>
            <a:pPr marL="0" marR="0" lvl="0" fontAlgn="base" latinLnBrk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ko-KR" sz="2000" dirty="0"/>
              <a:t>WHERE m.id(Member</a:t>
            </a:r>
            <a:r>
              <a:rPr lang="ko-KR" altLang="en-US" sz="2000" dirty="0"/>
              <a:t>의 변수</a:t>
            </a:r>
            <a:r>
              <a:rPr lang="en-US" altLang="ko-KR" sz="2000" dirty="0"/>
              <a:t>, DB table </a:t>
            </a:r>
            <a:r>
              <a:rPr lang="ko-KR" altLang="en-US" sz="2000" dirty="0"/>
              <a:t>컬럼 명 </a:t>
            </a:r>
            <a:r>
              <a:rPr lang="en-US" altLang="ko-KR" sz="2000" dirty="0"/>
              <a:t>X) = :#{#m.id}</a:t>
            </a:r>
          </a:p>
          <a:p>
            <a:pPr marL="0" marR="0" lvl="0" fontAlgn="base" latinLnBrk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ko-KR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C988AB-4472-E8B6-3B13-38E01EB05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0" y="866082"/>
            <a:ext cx="8278380" cy="55252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0664856-9FD7-EF58-4C10-824ABE782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0" y="3800865"/>
            <a:ext cx="8278380" cy="71290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7BEA587-A8DE-0BB7-45AA-6A8D373B0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0" y="2830024"/>
            <a:ext cx="8278380" cy="6792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1B8664-873A-1117-06FB-D7829CE79D4B}"/>
              </a:ext>
            </a:extLst>
          </p:cNvPr>
          <p:cNvSpPr txBox="1"/>
          <p:nvPr/>
        </p:nvSpPr>
        <p:spPr>
          <a:xfrm>
            <a:off x="1400906" y="4684289"/>
            <a:ext cx="4428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@Param : </a:t>
            </a:r>
            <a:r>
              <a:rPr lang="ko-KR" altLang="en-US" sz="2000" dirty="0"/>
              <a:t>매개변수를 </a:t>
            </a:r>
            <a:r>
              <a:rPr lang="en-US" altLang="ko-KR" sz="2000" dirty="0"/>
              <a:t>:~</a:t>
            </a:r>
            <a:r>
              <a:rPr lang="ko-KR" altLang="en-US" sz="2000" dirty="0"/>
              <a:t>와</a:t>
            </a:r>
            <a:r>
              <a:rPr lang="en-US" altLang="ko-KR" sz="2000" dirty="0"/>
              <a:t> </a:t>
            </a:r>
            <a:r>
              <a:rPr lang="ko-KR" altLang="en-US" sz="2000" dirty="0"/>
              <a:t>매칭</a:t>
            </a: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?1 : </a:t>
            </a:r>
            <a:r>
              <a:rPr lang="ko-KR" altLang="en-US" sz="2000" dirty="0"/>
              <a:t>매개변수를</a:t>
            </a:r>
            <a:r>
              <a:rPr lang="en-US" altLang="ko-KR" sz="2000" dirty="0"/>
              <a:t> </a:t>
            </a:r>
            <a:r>
              <a:rPr lang="ko-KR" altLang="en-US" sz="2000" dirty="0"/>
              <a:t>순서대로 매칭</a:t>
            </a:r>
          </a:p>
        </p:txBody>
      </p:sp>
    </p:spTree>
    <p:extLst>
      <p:ext uri="{BB962C8B-B14F-4D97-AF65-F5344CB8AC3E}">
        <p14:creationId xmlns:p14="http://schemas.microsoft.com/office/powerpoint/2010/main" val="2836197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BF75B-C15F-C597-1A7C-EE2192DB1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73" name="Rectangle 6172">
            <a:extLst>
              <a:ext uri="{FF2B5EF4-FFF2-40B4-BE49-F238E27FC236}">
                <a16:creationId xmlns:a16="http://schemas.microsoft.com/office/drawing/2014/main" id="{5B24960A-E1A2-8A1F-0DAF-374880385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5C08B06-E744-A278-DD64-C9674E20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83" y="1143000"/>
            <a:ext cx="4846320" cy="2898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5400" dirty="0"/>
              <a:t>Service</a:t>
            </a: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6E22552D-9C2F-853C-429F-C2C3FC5D1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183" y="4407408"/>
            <a:ext cx="4846320" cy="13350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sz="2400" dirty="0"/>
              <a:t>Business Logic </a:t>
            </a:r>
            <a:r>
              <a:rPr lang="en-US" altLang="ko-KR" sz="2400" dirty="0"/>
              <a:t> </a:t>
            </a:r>
            <a:r>
              <a:rPr lang="ko-KR" altLang="en-US" sz="2400" dirty="0"/>
              <a:t>처리</a:t>
            </a:r>
            <a:endParaRPr lang="en-US" sz="2400" dirty="0"/>
          </a:p>
        </p:txBody>
      </p:sp>
      <p:sp>
        <p:nvSpPr>
          <p:cNvPr id="6175" name="Rectangle 6174">
            <a:extLst>
              <a:ext uri="{FF2B5EF4-FFF2-40B4-BE49-F238E27FC236}">
                <a16:creationId xmlns:a16="http://schemas.microsoft.com/office/drawing/2014/main" id="{7EA0D650-80CB-1981-CE46-C33F03F65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82975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556ECB-469A-B3C5-BAAD-9702653A4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991" y="818523"/>
            <a:ext cx="6801965" cy="2511698"/>
          </a:xfrm>
          <a:prstGeom prst="rect">
            <a:avLst/>
          </a:prstGeom>
        </p:spPr>
      </p:pic>
      <p:sp>
        <p:nvSpPr>
          <p:cNvPr id="6177" name="Rectangle 6176">
            <a:extLst>
              <a:ext uri="{FF2B5EF4-FFF2-40B4-BE49-F238E27FC236}">
                <a16:creationId xmlns:a16="http://schemas.microsoft.com/office/drawing/2014/main" id="{46A8110D-57C9-1C8C-9241-E562083E8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897" y="4177748"/>
            <a:ext cx="4824407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46" name="Picture 2" descr="주방장, 요리사, 쉐프, 사람, 사람일러스트, 사진,이미지,일러스트,캘리그라피 - JSdesign작가">
            <a:extLst>
              <a:ext uri="{FF2B5EF4-FFF2-40B4-BE49-F238E27FC236}">
                <a16:creationId xmlns:a16="http://schemas.microsoft.com/office/drawing/2014/main" id="{A9C34674-5384-1F8F-2803-B1E08C464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30571" y="3522180"/>
            <a:ext cx="3301771" cy="314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100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098211-32D0-D269-C084-A1420F228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1FE2DAD-4231-DF86-8AF4-B1C67BE4B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7FE67ABB-17C5-4657-08F3-5D97CC78D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54289C0-B897-B757-6BFC-2E9ED1FD3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2B172E-D2EB-0990-74AC-26E02B29F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6500" y="5384620"/>
            <a:ext cx="9465500" cy="4192520"/>
          </a:xfrm>
        </p:spPr>
        <p:txBody>
          <a:bodyPr>
            <a:normAutofit/>
          </a:bodyPr>
          <a:lstStyle/>
          <a:p>
            <a:r>
              <a:rPr lang="en-US" altLang="ko-KR" dirty="0"/>
              <a:t>@Transactional – </a:t>
            </a:r>
            <a:r>
              <a:rPr lang="ko-KR" altLang="en-US" dirty="0"/>
              <a:t>해당 메소드를 한번에 처리</a:t>
            </a:r>
            <a:r>
              <a:rPr lang="en-US" altLang="ko-KR" dirty="0"/>
              <a:t>(commit, </a:t>
            </a:r>
          </a:p>
          <a:p>
            <a:pPr marL="0" indent="0">
              <a:buNone/>
            </a:pPr>
            <a:r>
              <a:rPr lang="en-US" altLang="ko-KR" dirty="0"/>
              <a:t>				rollback)</a:t>
            </a:r>
          </a:p>
          <a:p>
            <a:r>
              <a:rPr lang="en-US" altLang="ko-KR" dirty="0"/>
              <a:t>(</a:t>
            </a:r>
            <a:r>
              <a:rPr lang="en-US" altLang="ko-KR" dirty="0" err="1"/>
              <a:t>readOnly</a:t>
            </a:r>
            <a:r>
              <a:rPr lang="en-US" altLang="ko-KR" dirty="0"/>
              <a:t> = true) – SELECT</a:t>
            </a:r>
            <a:r>
              <a:rPr lang="ko-KR" altLang="en-US" dirty="0"/>
              <a:t>만 할거다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25C2E3-CD69-ACB3-05DA-8F58A1B63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6" y="481955"/>
            <a:ext cx="4773163" cy="14028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BA2E05F-073C-106F-DF47-4AC39A459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56" y="2021886"/>
            <a:ext cx="6962594" cy="4069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62B6D01-550B-B932-4C41-C1E473B14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56" y="2558730"/>
            <a:ext cx="9088118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4782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E7C4A9-B3BB-0445-3CBC-AA0206E9C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54" name="Rectangle 3153">
            <a:extLst>
              <a:ext uri="{FF2B5EF4-FFF2-40B4-BE49-F238E27FC236}">
                <a16:creationId xmlns:a16="http://schemas.microsoft.com/office/drawing/2014/main" id="{70A3F38E-347A-0FE5-17FD-84AE611F1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C20F79D-E7BF-FAF2-4385-B220B8E64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83" y="1143000"/>
            <a:ext cx="4846320" cy="2898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5400"/>
              <a:t>Controller</a:t>
            </a: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964EDA9B-96F8-FD72-BBEA-EDCE4EC3C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183" y="4407408"/>
            <a:ext cx="4846320" cy="13350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sz="2400"/>
              <a:t>Front</a:t>
            </a:r>
            <a:r>
              <a:rPr lang="ko-KR" altLang="en-US" sz="2400"/>
              <a:t>한테 요청과 응답 전달</a:t>
            </a:r>
            <a:endParaRPr lang="en-US" sz="2400"/>
          </a:p>
        </p:txBody>
      </p:sp>
      <p:sp>
        <p:nvSpPr>
          <p:cNvPr id="3156" name="Rectangle 3155">
            <a:extLst>
              <a:ext uri="{FF2B5EF4-FFF2-40B4-BE49-F238E27FC236}">
                <a16:creationId xmlns:a16="http://schemas.microsoft.com/office/drawing/2014/main" id="{29871F43-4E1B-C072-EAD3-908F09503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82975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2AE0571-B07E-6A73-1AEC-1D240CF13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331" y="1006901"/>
            <a:ext cx="6967052" cy="2055280"/>
          </a:xfrm>
          <a:prstGeom prst="rect">
            <a:avLst/>
          </a:prstGeom>
        </p:spPr>
      </p:pic>
      <p:sp>
        <p:nvSpPr>
          <p:cNvPr id="3158" name="Rectangle 3157">
            <a:extLst>
              <a:ext uri="{FF2B5EF4-FFF2-40B4-BE49-F238E27FC236}">
                <a16:creationId xmlns:a16="http://schemas.microsoft.com/office/drawing/2014/main" id="{FF05CEC3-27B3-DB9E-6FB8-9ECB3B442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897" y="4177748"/>
            <a:ext cx="4824407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74" name="Picture 2" descr="알바, 아르바이트, 알바생, 아르바이트생, 직업, 사진,이미지,일러스트,캘리그라피 - woocat작가">
            <a:extLst>
              <a:ext uri="{FF2B5EF4-FFF2-40B4-BE49-F238E27FC236}">
                <a16:creationId xmlns:a16="http://schemas.microsoft.com/office/drawing/2014/main" id="{53E8E428-7602-E90D-6997-267B3A847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71" r="-2" b="21574"/>
          <a:stretch>
            <a:fillRect/>
          </a:stretch>
        </p:blipFill>
        <p:spPr bwMode="auto">
          <a:xfrm>
            <a:off x="6317531" y="3522180"/>
            <a:ext cx="5327851" cy="314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5090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0A9620-7884-F841-5D56-A5E1A060C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4DBFBE8-CAE6-B709-DF5A-3FC2ED907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5E582E1E-B03E-1099-073A-EB8CA31EE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93F48F4-2149-BE6C-7544-3B554D2AE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747FD-0493-85E2-688C-D23C649EC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00" y="3598788"/>
            <a:ext cx="10740439" cy="4192520"/>
          </a:xfrm>
        </p:spPr>
        <p:txBody>
          <a:bodyPr>
            <a:normAutofit/>
          </a:bodyPr>
          <a:lstStyle/>
          <a:p>
            <a:r>
              <a:rPr lang="en-US" altLang="ko-KR" dirty="0"/>
              <a:t>@RequestMapping(“/boards”) – Front</a:t>
            </a:r>
            <a:r>
              <a:rPr lang="ko-KR" altLang="en-US" dirty="0"/>
              <a:t>에서 </a:t>
            </a:r>
            <a:r>
              <a:rPr lang="en-US" altLang="ko-KR" dirty="0" err="1"/>
              <a:t>api</a:t>
            </a:r>
            <a:r>
              <a:rPr lang="en-US" altLang="ko-KR" dirty="0"/>
              <a:t> </a:t>
            </a:r>
            <a:r>
              <a:rPr lang="ko-KR" altLang="en-US" dirty="0" err="1"/>
              <a:t>호출할때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	“/boards”</a:t>
            </a:r>
            <a:r>
              <a:rPr lang="ko-KR" altLang="en-US" dirty="0"/>
              <a:t>로 시작</a:t>
            </a:r>
            <a:r>
              <a:rPr lang="en-US" altLang="ko-KR" dirty="0"/>
              <a:t>(</a:t>
            </a:r>
            <a:r>
              <a:rPr lang="ko-KR" altLang="en-US" dirty="0"/>
              <a:t>공통으로 사용되는 기본 주소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697CEB9-0816-D2B4-4183-D353C70F5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01" y="681037"/>
            <a:ext cx="7159039" cy="257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873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CE87CE-2DB5-AEF9-0C5B-E22865F7C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A6BE95-6CFB-077D-7942-417C169A864E}"/>
              </a:ext>
            </a:extLst>
          </p:cNvPr>
          <p:cNvSpPr txBox="1"/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 Method</a:t>
            </a:r>
          </a:p>
        </p:txBody>
      </p:sp>
      <p:graphicFrame>
        <p:nvGraphicFramePr>
          <p:cNvPr id="9" name="내용 개체 틀 8">
            <a:extLst>
              <a:ext uri="{FF2B5EF4-FFF2-40B4-BE49-F238E27FC236}">
                <a16:creationId xmlns:a16="http://schemas.microsoft.com/office/drawing/2014/main" id="{3CCD310D-2634-686C-8375-C4BD74AC7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1214362"/>
              </p:ext>
            </p:extLst>
          </p:nvPr>
        </p:nvGraphicFramePr>
        <p:xfrm>
          <a:off x="723900" y="2234553"/>
          <a:ext cx="10744199" cy="4472399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5217207">
                  <a:extLst>
                    <a:ext uri="{9D8B030D-6E8A-4147-A177-3AD203B41FA5}">
                      <a16:colId xmlns:a16="http://schemas.microsoft.com/office/drawing/2014/main" val="3319137803"/>
                    </a:ext>
                  </a:extLst>
                </a:gridCol>
                <a:gridCol w="5526992">
                  <a:extLst>
                    <a:ext uri="{9D8B030D-6E8A-4147-A177-3AD203B41FA5}">
                      <a16:colId xmlns:a16="http://schemas.microsoft.com/office/drawing/2014/main" val="3828039728"/>
                    </a:ext>
                  </a:extLst>
                </a:gridCol>
              </a:tblGrid>
              <a:tr h="9387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600" b="0" cap="none" spc="0" dirty="0" err="1">
                          <a:solidFill>
                            <a:schemeClr val="tx1"/>
                          </a:solidFill>
                          <a:latin typeface="+mj-lt"/>
                        </a:rPr>
                        <a:t>GetMapping</a:t>
                      </a:r>
                      <a:endParaRPr lang="ko-KR" altLang="en-US" sz="3600" b="0" cap="none" spc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37852" marR="196931" marT="39386" marB="295397" anchor="b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600" b="0" cap="none" spc="0" dirty="0">
                          <a:solidFill>
                            <a:schemeClr val="tx1"/>
                          </a:solidFill>
                          <a:latin typeface="+mj-lt"/>
                        </a:rPr>
                        <a:t>데이터를 조회</a:t>
                      </a:r>
                    </a:p>
                  </a:txBody>
                  <a:tcPr marL="137852" marR="196931" marT="39386" marB="295397" anchor="b"/>
                </a:tc>
                <a:extLst>
                  <a:ext uri="{0D108BD9-81ED-4DB2-BD59-A6C34878D82A}">
                    <a16:rowId xmlns:a16="http://schemas.microsoft.com/office/drawing/2014/main" val="765480376"/>
                  </a:ext>
                </a:extLst>
              </a:tr>
              <a:tr h="8074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600" cap="none" spc="0" dirty="0" err="1">
                          <a:solidFill>
                            <a:schemeClr val="tx1"/>
                          </a:solidFill>
                          <a:latin typeface="+mj-lt"/>
                        </a:rPr>
                        <a:t>PostMapping</a:t>
                      </a:r>
                      <a:endParaRPr lang="ko-KR" altLang="en-US" sz="3600" cap="none" spc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37852" marR="196931" marT="39386" marB="2953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600" cap="none" spc="0">
                          <a:solidFill>
                            <a:schemeClr val="tx1"/>
                          </a:solidFill>
                          <a:latin typeface="+mj-lt"/>
                        </a:rPr>
                        <a:t>데이터 추가</a:t>
                      </a:r>
                      <a:r>
                        <a:rPr lang="en-US" altLang="ko-KR" sz="3600" cap="none" spc="0">
                          <a:solidFill>
                            <a:schemeClr val="tx1"/>
                          </a:solidFill>
                          <a:latin typeface="+mj-lt"/>
                        </a:rPr>
                        <a:t>, </a:t>
                      </a:r>
                      <a:r>
                        <a:rPr lang="ko-KR" altLang="en-US" sz="3600" cap="none" spc="0">
                          <a:solidFill>
                            <a:schemeClr val="tx1"/>
                          </a:solidFill>
                          <a:latin typeface="+mj-lt"/>
                        </a:rPr>
                        <a:t>등록</a:t>
                      </a:r>
                    </a:p>
                  </a:txBody>
                  <a:tcPr marL="137852" marR="196931" marT="39386" marB="295397"/>
                </a:tc>
                <a:extLst>
                  <a:ext uri="{0D108BD9-81ED-4DB2-BD59-A6C34878D82A}">
                    <a16:rowId xmlns:a16="http://schemas.microsoft.com/office/drawing/2014/main" val="3595348333"/>
                  </a:ext>
                </a:extLst>
              </a:tr>
              <a:tr h="8074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600" cap="none" spc="0" err="1">
                          <a:solidFill>
                            <a:schemeClr val="tx1"/>
                          </a:solidFill>
                          <a:latin typeface="+mj-lt"/>
                        </a:rPr>
                        <a:t>PutMapping</a:t>
                      </a:r>
                      <a:endParaRPr lang="en-US" altLang="ko-KR" sz="3600" cap="none" spc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37852" marR="196931" marT="39386" marB="2953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600" cap="none" spc="0" dirty="0">
                          <a:solidFill>
                            <a:schemeClr val="tx1"/>
                          </a:solidFill>
                          <a:latin typeface="+mj-lt"/>
                        </a:rPr>
                        <a:t>데이터 대체</a:t>
                      </a:r>
                      <a:r>
                        <a:rPr lang="en-US" altLang="ko-KR" sz="3600" cap="none" spc="0" dirty="0">
                          <a:solidFill>
                            <a:schemeClr val="tx1"/>
                          </a:solidFill>
                          <a:latin typeface="+mj-lt"/>
                        </a:rPr>
                        <a:t>, </a:t>
                      </a:r>
                      <a:r>
                        <a:rPr lang="ko-KR" altLang="en-US" sz="3600" cap="none" spc="0" dirty="0">
                          <a:solidFill>
                            <a:schemeClr val="tx1"/>
                          </a:solidFill>
                          <a:latin typeface="+mj-lt"/>
                        </a:rPr>
                        <a:t>수정</a:t>
                      </a:r>
                    </a:p>
                  </a:txBody>
                  <a:tcPr marL="137852" marR="196931" marT="39386" marB="295397"/>
                </a:tc>
                <a:extLst>
                  <a:ext uri="{0D108BD9-81ED-4DB2-BD59-A6C34878D82A}">
                    <a16:rowId xmlns:a16="http://schemas.microsoft.com/office/drawing/2014/main" val="1384047781"/>
                  </a:ext>
                </a:extLst>
              </a:tr>
              <a:tr h="8074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600" cap="none" spc="0" dirty="0" err="1">
                          <a:solidFill>
                            <a:schemeClr val="tx1"/>
                          </a:solidFill>
                          <a:latin typeface="+mj-lt"/>
                        </a:rPr>
                        <a:t>DeleteMapping</a:t>
                      </a:r>
                      <a:endParaRPr lang="ko-KR" altLang="en-US" sz="3600" cap="none" spc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37852" marR="196931" marT="39386" marB="2953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600" cap="none" spc="0" dirty="0">
                          <a:solidFill>
                            <a:schemeClr val="tx1"/>
                          </a:solidFill>
                          <a:latin typeface="+mj-lt"/>
                        </a:rPr>
                        <a:t>데이터 삭제</a:t>
                      </a:r>
                    </a:p>
                  </a:txBody>
                  <a:tcPr marL="137852" marR="196931" marT="39386" marB="295397"/>
                </a:tc>
                <a:extLst>
                  <a:ext uri="{0D108BD9-81ED-4DB2-BD59-A6C34878D82A}">
                    <a16:rowId xmlns:a16="http://schemas.microsoft.com/office/drawing/2014/main" val="1853254631"/>
                  </a:ext>
                </a:extLst>
              </a:tr>
              <a:tr h="8074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600" cap="none" spc="0" dirty="0" err="1">
                          <a:solidFill>
                            <a:schemeClr val="tx1"/>
                          </a:solidFill>
                          <a:latin typeface="+mj-lt"/>
                        </a:rPr>
                        <a:t>PatchMapping</a:t>
                      </a:r>
                      <a:endParaRPr lang="ko-KR" altLang="en-US" sz="3600" cap="none" spc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37852" marR="196931" marT="39386" marB="2953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600" cap="none" spc="0" dirty="0">
                          <a:solidFill>
                            <a:schemeClr val="tx1"/>
                          </a:solidFill>
                          <a:latin typeface="+mj-lt"/>
                        </a:rPr>
                        <a:t>데이터 부분 변경</a:t>
                      </a:r>
                    </a:p>
                  </a:txBody>
                  <a:tcPr marL="137852" marR="196931" marT="39386" marB="295397"/>
                </a:tc>
                <a:extLst>
                  <a:ext uri="{0D108BD9-81ED-4DB2-BD59-A6C34878D82A}">
                    <a16:rowId xmlns:a16="http://schemas.microsoft.com/office/drawing/2014/main" val="1146231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68716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B3D37D-68A9-B26A-4E9F-58630B0E8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49C0E0C-7173-90ED-A7C8-7990D8F1E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972F1291-0A5F-F35A-A22D-66F76524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824E0E-C0E6-EE9B-595B-ED7538BA6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4888792-C881-B5D6-06D0-AA799E218E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6615" y="5697440"/>
            <a:ext cx="7745969" cy="89005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 latinLnBrk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ko-KR" sz="2000" dirty="0"/>
              <a:t>@RequestBody : JSON </a:t>
            </a:r>
            <a:r>
              <a:rPr lang="ko-KR" altLang="en-US" sz="2000" dirty="0"/>
              <a:t>형식으로 들어오는 요청을 객체로</a:t>
            </a:r>
            <a:endParaRPr lang="en-US" altLang="ko-KR" sz="2000" dirty="0"/>
          </a:p>
          <a:p>
            <a:pPr marL="0" marR="0" lvl="0" fontAlgn="base" latinLnBrk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ko-KR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5C917E-B8CC-A715-A8BA-342410B1532E}"/>
              </a:ext>
            </a:extLst>
          </p:cNvPr>
          <p:cNvSpPr txBox="1"/>
          <p:nvPr/>
        </p:nvSpPr>
        <p:spPr>
          <a:xfrm>
            <a:off x="918619" y="3411869"/>
            <a:ext cx="102767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@ResponseEntity : </a:t>
            </a:r>
            <a:r>
              <a:rPr lang="en-US" altLang="ko-KR" sz="2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Entity + Status</a:t>
            </a:r>
            <a:r>
              <a:rPr lang="ko-KR" altLang="en-US" sz="2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</a:t>
            </a:r>
            <a:r>
              <a:rPr lang="en-US" altLang="ko-KR" sz="2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Code(200,</a:t>
            </a:r>
            <a:r>
              <a:rPr lang="ko-KR" altLang="en-US" sz="2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</a:t>
            </a:r>
            <a:r>
              <a:rPr lang="en-US" altLang="ko-KR" sz="2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404…)</a:t>
            </a:r>
            <a:r>
              <a:rPr lang="ko-KR" altLang="en-US" sz="2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를 반환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@</a:t>
            </a:r>
            <a:r>
              <a:rPr lang="en-US" altLang="ko-KR" sz="20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PathVariable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: “/boards/1”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2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@RequestParam : “boards/</a:t>
            </a:r>
            <a:r>
              <a:rPr lang="en-US" altLang="ko-KR" sz="20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search?title</a:t>
            </a:r>
            <a:r>
              <a:rPr lang="en-US" altLang="ko-KR" sz="2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=</a:t>
            </a:r>
            <a:r>
              <a:rPr lang="en-US" altLang="ko-KR" sz="20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Springboot&amp;content</a:t>
            </a:r>
            <a:r>
              <a:rPr lang="en-US" altLang="ko-KR" sz="2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=</a:t>
            </a:r>
            <a:r>
              <a:rPr lang="en-US" altLang="ko-KR" sz="20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Springboooooooot</a:t>
            </a:r>
            <a:r>
              <a:rPr lang="en-US" altLang="ko-KR" sz="20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”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A9453704-7766-A76A-D97A-BBABD39AD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20" y="721286"/>
            <a:ext cx="7220958" cy="110505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A387825-2D79-ED32-6D7D-C22624746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20" y="1924350"/>
            <a:ext cx="10351360" cy="13272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882F1CA-DFAF-999C-13B2-C6BBA0C5D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619" y="4552703"/>
            <a:ext cx="7163800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152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4F554-1777-B6C1-A0B3-23AA9E894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54" name="Rectangle 3153">
            <a:extLst>
              <a:ext uri="{FF2B5EF4-FFF2-40B4-BE49-F238E27FC236}">
                <a16:creationId xmlns:a16="http://schemas.microsoft.com/office/drawing/2014/main" id="{42892982-95F7-B3EB-1602-A97C8DB0A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B70A1D9-07C8-1CC1-F966-48C3CE4FE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83" y="1143000"/>
            <a:ext cx="4846320" cy="2898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5400" dirty="0"/>
              <a:t>DTO</a:t>
            </a: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C6574CFF-5A2B-A05E-FA8D-A50F0C9A6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183" y="4407408"/>
            <a:ext cx="4846320" cy="133502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ko-KR" altLang="en-US" sz="2400" dirty="0"/>
              <a:t>데이터를 전송하는 객체</a:t>
            </a:r>
            <a:endParaRPr lang="en-US" sz="2400" dirty="0"/>
          </a:p>
        </p:txBody>
      </p:sp>
      <p:sp>
        <p:nvSpPr>
          <p:cNvPr id="3156" name="Rectangle 3155">
            <a:extLst>
              <a:ext uri="{FF2B5EF4-FFF2-40B4-BE49-F238E27FC236}">
                <a16:creationId xmlns:a16="http://schemas.microsoft.com/office/drawing/2014/main" id="{A0490EEF-6938-0FC2-DB1B-8302D388D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82975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58" name="Rectangle 3157">
            <a:extLst>
              <a:ext uri="{FF2B5EF4-FFF2-40B4-BE49-F238E27FC236}">
                <a16:creationId xmlns:a16="http://schemas.microsoft.com/office/drawing/2014/main" id="{0169ADDD-DF81-C12D-E5F0-24C4BCCCB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897" y="4177748"/>
            <a:ext cx="4824407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762169-4F17-5088-8D85-40FB4459E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858" y="744555"/>
            <a:ext cx="7162181" cy="414321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AEC99E3-D6B4-D2B1-494F-3A8DB2501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858" y="5550408"/>
            <a:ext cx="7162181" cy="49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7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6179A7-1DEE-D343-E9E8-A9C52165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EA2F16B-86DC-B0B7-47C7-487DCF30B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E0809EE3-2ABB-82DC-61EA-918D23C7A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9645E25-A982-4286-DA44-4358FAD86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24F642-964D-D0F7-E0B6-27B9F4FD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778" y="4116836"/>
            <a:ext cx="10740439" cy="4192520"/>
          </a:xfrm>
        </p:spPr>
        <p:txBody>
          <a:bodyPr>
            <a:normAutofit/>
          </a:bodyPr>
          <a:lstStyle/>
          <a:p>
            <a:r>
              <a:rPr lang="ko-KR" altLang="en-US" dirty="0"/>
              <a:t>보안 </a:t>
            </a:r>
            <a:r>
              <a:rPr lang="en-US" altLang="ko-KR" dirty="0"/>
              <a:t>(</a:t>
            </a:r>
            <a:r>
              <a:rPr lang="ko-KR" altLang="en-US" dirty="0"/>
              <a:t>사용자의 비밀번호</a:t>
            </a:r>
            <a:r>
              <a:rPr lang="en-US" altLang="ko-KR" dirty="0"/>
              <a:t>(</a:t>
            </a:r>
            <a:r>
              <a:rPr lang="en-US" altLang="ko-KR" dirty="0" err="1"/>
              <a:t>pwd</a:t>
            </a:r>
            <a:r>
              <a:rPr lang="en-US" altLang="ko-KR" dirty="0"/>
              <a:t>), </a:t>
            </a:r>
            <a:r>
              <a:rPr lang="ko-KR" altLang="en-US" dirty="0"/>
              <a:t>주민번호 등 모든 민감한 정보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독립성 </a:t>
            </a:r>
            <a:r>
              <a:rPr lang="en-US" altLang="ko-KR" dirty="0"/>
              <a:t>(Entity</a:t>
            </a:r>
            <a:r>
              <a:rPr lang="ko-KR" altLang="en-US" dirty="0"/>
              <a:t>등에서 수정되어도 </a:t>
            </a:r>
            <a:r>
              <a:rPr lang="en-US" altLang="ko-KR" dirty="0"/>
              <a:t>Front</a:t>
            </a:r>
            <a:r>
              <a:rPr lang="ko-KR" altLang="en-US" dirty="0"/>
              <a:t>까지 고칠 필요 없음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효율성 </a:t>
            </a:r>
            <a:r>
              <a:rPr lang="en-US" altLang="ko-KR" dirty="0"/>
              <a:t>(</a:t>
            </a:r>
            <a:r>
              <a:rPr lang="ko-KR" altLang="en-US" dirty="0"/>
              <a:t>필요한 것만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13DE211-44ED-2173-3573-D891FC2D5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78" y="316230"/>
            <a:ext cx="5239481" cy="363905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93976D-4FFC-C082-7551-2DDA82556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788" y="1404837"/>
            <a:ext cx="4533155" cy="20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89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805AE-BE8D-90DE-95AC-A3DBC72D3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C7F0048-01B4-EC13-A53D-690477071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/>
            <a:endParaRPr lang="en-US" altLang="ko-KR" sz="3600" kern="12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그림 2" descr="Spring] Spring Security 개념">
            <a:extLst>
              <a:ext uri="{FF2B5EF4-FFF2-40B4-BE49-F238E27FC236}">
                <a16:creationId xmlns:a16="http://schemas.microsoft.com/office/drawing/2014/main" id="{FFCB3CDB-F6F6-4D02-A2AF-0898D0BBB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900" y="579473"/>
            <a:ext cx="9742198" cy="422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618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CD88E-25A6-D380-0615-0D0F804C5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1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Freeform: Shape 63">
            <a:extLst>
              <a:ext uri="{FF2B5EF4-FFF2-40B4-BE49-F238E27FC236}">
                <a16:creationId xmlns:a16="http://schemas.microsoft.com/office/drawing/2014/main" id="{BB4D578A-F2C4-4EA9-A811-B48E66D63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11DC7A1-775C-9D32-86AE-D5ADE405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57" y="5279509"/>
            <a:ext cx="9707911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/>
            <a:endParaRPr lang="en-US" altLang="ko-KR" sz="3600"/>
          </a:p>
        </p:txBody>
      </p:sp>
      <p:pic>
        <p:nvPicPr>
          <p:cNvPr id="6" name="그림 5" descr="복잡한' 영어로 - complex와 complicated의 차이?">
            <a:extLst>
              <a:ext uri="{FF2B5EF4-FFF2-40B4-BE49-F238E27FC236}">
                <a16:creationId xmlns:a16="http://schemas.microsoft.com/office/drawing/2014/main" id="{699A3D95-B2EC-9CD4-CA49-74A33BF62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309" y="1024912"/>
            <a:ext cx="3283329" cy="3217333"/>
          </a:xfrm>
          <a:prstGeom prst="rect">
            <a:avLst/>
          </a:prstGeom>
        </p:spPr>
      </p:pic>
      <p:pic>
        <p:nvPicPr>
          <p:cNvPr id="4" name="그림 3" descr="개발자 블로그] Spring Security 개요 및 동작 과정 | Youngho's Devlog">
            <a:extLst>
              <a:ext uri="{FF2B5EF4-FFF2-40B4-BE49-F238E27FC236}">
                <a16:creationId xmlns:a16="http://schemas.microsoft.com/office/drawing/2014/main" id="{FDC031A6-F4D8-12CF-1D00-D2582CCEB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56" y="1024912"/>
            <a:ext cx="4484087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82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3D26F-A827-BFE3-EF63-50D87DAEE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74DA570-919D-51E1-E3A7-C5C664959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DF2A7E3-8A65-C19E-2F5B-6679ECAC0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4288AD-F597-8546-C639-70C69AED1E75}"/>
              </a:ext>
            </a:extLst>
          </p:cNvPr>
          <p:cNvSpPr txBox="1"/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algn="ct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3600" dirty="0"/>
              <a:t>securityConfig.java</a:t>
            </a:r>
            <a:endParaRPr kumimoji="0" lang="en-US" altLang="ko-KR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E24B9C7-B2CF-A392-8F19-99F34E9F5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723" y="2083506"/>
            <a:ext cx="5182047" cy="43513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5BF0DFE-7646-AD93-73D9-DBFD7CA09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770" y="2109185"/>
            <a:ext cx="5530230" cy="12624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153AF0-F661-9CCA-E0B0-ECC0474CFD9B}"/>
              </a:ext>
            </a:extLst>
          </p:cNvPr>
          <p:cNvSpPr txBox="1"/>
          <p:nvPr/>
        </p:nvSpPr>
        <p:spPr>
          <a:xfrm>
            <a:off x="6096000" y="3325142"/>
            <a:ext cx="465063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 err="1"/>
              <a:t>permitAll</a:t>
            </a:r>
            <a:r>
              <a:rPr lang="ko-KR" altLang="ko-KR" dirty="0"/>
              <a:t>()</a:t>
            </a:r>
            <a:br>
              <a:rPr lang="ko-KR" altLang="ko-KR" dirty="0"/>
            </a:br>
            <a:r>
              <a:rPr lang="ko-KR" altLang="ko-KR" dirty="0"/>
              <a:t>로그인하지 않아도 접근 가능</a:t>
            </a:r>
            <a:endParaRPr lang="en-US" altLang="ko-KR" dirty="0"/>
          </a:p>
          <a:p>
            <a:endParaRPr lang="ko-KR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 err="1"/>
              <a:t>hasRole</a:t>
            </a:r>
            <a:r>
              <a:rPr lang="ko-KR" altLang="ko-KR" dirty="0"/>
              <a:t>("ADMIN")</a:t>
            </a:r>
            <a:br>
              <a:rPr lang="ko-KR" altLang="ko-KR" dirty="0"/>
            </a:br>
            <a:r>
              <a:rPr lang="ko-KR" altLang="ko-KR" dirty="0"/>
              <a:t>ADMIN 역할을 가진 사용자만 접근 가능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 err="1"/>
              <a:t>authenticated</a:t>
            </a:r>
            <a:r>
              <a:rPr lang="ko-KR" altLang="ko-KR" dirty="0"/>
              <a:t>()</a:t>
            </a:r>
            <a:br>
              <a:rPr lang="ko-KR" altLang="ko-KR" dirty="0"/>
            </a:br>
            <a:r>
              <a:rPr lang="ko-KR" altLang="ko-KR" dirty="0"/>
              <a:t>로그인한 사용자만 접근 가능 </a:t>
            </a:r>
          </a:p>
          <a:p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8B5A53C-D665-DD89-294C-4669ADC4B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802" y="5611346"/>
            <a:ext cx="5668166" cy="4667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4639C13-4B28-9C10-1DC2-6A175E7689D4}"/>
              </a:ext>
            </a:extLst>
          </p:cNvPr>
          <p:cNvSpPr txBox="1"/>
          <p:nvPr/>
        </p:nvSpPr>
        <p:spPr>
          <a:xfrm>
            <a:off x="6096000" y="6250178"/>
            <a:ext cx="4748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/>
              <a:t>비밀번호를 그대로 저장하지 </a:t>
            </a:r>
            <a:r>
              <a:rPr lang="ko-KR" altLang="en-US" dirty="0"/>
              <a:t>않고</a:t>
            </a:r>
            <a:r>
              <a:rPr lang="ko-KR" altLang="ko-KR" dirty="0"/>
              <a:t> 해시 처리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38307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D4C693-2D4B-E5C6-F2F7-914D712AC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106A03E-2ABC-A804-9F57-C47753181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A7EBFC7-7CC9-440F-CE27-5326FC73F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4C037E-00A4-9358-BD70-DB1EDC8DA106}"/>
              </a:ext>
            </a:extLst>
          </p:cNvPr>
          <p:cNvSpPr txBox="1"/>
          <p:nvPr/>
        </p:nvSpPr>
        <p:spPr>
          <a:xfrm>
            <a:off x="828675" y="494414"/>
            <a:ext cx="10534650" cy="81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algn="ct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3600"/>
              <a:t>@PreAuthorize</a:t>
            </a:r>
            <a:endParaRPr kumimoji="0" lang="en-US" altLang="ko-KR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D8150AD-20DE-7B31-A8DB-169E297D9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22" y="3842015"/>
            <a:ext cx="4477375" cy="6287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187BC90-B671-8B37-1935-3FEFC8A04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585" y="3613383"/>
            <a:ext cx="2162477" cy="4572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78FEFDF-A925-D24A-893F-3E168EE0A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322" y="3165646"/>
            <a:ext cx="2133898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9257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음영 처리된 숫자가 있는 시트 위의 검은 색 펜">
            <a:extLst>
              <a:ext uri="{FF2B5EF4-FFF2-40B4-BE49-F238E27FC236}">
                <a16:creationId xmlns:a16="http://schemas.microsoft.com/office/drawing/2014/main" id="{75B7D49D-099A-4351-219E-BC208360F7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28" r="-1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450ED80-B46C-CF36-507D-577A07774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4800" dirty="0">
                <a:solidFill>
                  <a:schemeClr val="bg1"/>
                </a:solidFill>
              </a:rPr>
              <a:t>Test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03922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36D36D-1839-63A0-D018-4BD976A0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5" name="Rectangle 2074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483E5CC-4BF8-7C55-F313-E17486BBF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1780868"/>
            <a:ext cx="4434720" cy="1716255"/>
          </a:xfrm>
        </p:spPr>
        <p:txBody>
          <a:bodyPr anchor="b">
            <a:normAutofit/>
          </a:bodyPr>
          <a:lstStyle/>
          <a:p>
            <a:r>
              <a:rPr lang="en-US" altLang="ko-KR" sz="3500" dirty="0" err="1"/>
              <a:t>CommadLineRunner</a:t>
            </a:r>
            <a:endParaRPr lang="ko-KR" altLang="en-US" sz="3500" dirty="0"/>
          </a:p>
        </p:txBody>
      </p:sp>
      <p:sp>
        <p:nvSpPr>
          <p:cNvPr id="2086" name="Rectangle 2076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29358BB-DDC5-DEA4-7DB7-B3750D5FF8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046"/>
          <a:stretch>
            <a:fillRect/>
          </a:stretch>
        </p:blipFill>
        <p:spPr>
          <a:xfrm>
            <a:off x="412099" y="3429000"/>
            <a:ext cx="5221625" cy="3010397"/>
          </a:xfrm>
          <a:prstGeom prst="rect">
            <a:avLst/>
          </a:prstGeom>
        </p:spPr>
      </p:pic>
      <p:cxnSp>
        <p:nvCxnSpPr>
          <p:cNvPr id="2087" name="Straight Connector 207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3893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5DEEAA85-6375-B0C2-6FE9-268509526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99" y="418603"/>
            <a:ext cx="5221625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633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70014-4714-C39B-9AB2-E2DF6802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9DC54D0B-BFA0-4C12-5358-6C47829E5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3FEEDC8-1AA7-1B26-3EF4-EDB31DBBA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altLang="ko-KR" sz="3400" dirty="0"/>
              <a:t>Postman</a:t>
            </a:r>
            <a:endParaRPr lang="ko-KR" altLang="en-US" sz="3400" dirty="0"/>
          </a:p>
        </p:txBody>
      </p: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23E52976-C8F7-212E-7257-D571EFEE7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0" name="Rectangle 2069">
            <a:extLst>
              <a:ext uri="{FF2B5EF4-FFF2-40B4-BE49-F238E27FC236}">
                <a16:creationId xmlns:a16="http://schemas.microsoft.com/office/drawing/2014/main" id="{F2932136-7D1C-16B9-01B7-D7C177FB5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0A271B-6D09-3A86-85F4-F96A6A49D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API Test </a:t>
            </a:r>
            <a:r>
              <a:rPr lang="ko-KR" altLang="en-US" sz="2400" dirty="0"/>
              <a:t>도구</a:t>
            </a:r>
            <a:endParaRPr lang="en-US" altLang="ko-KR" sz="2400" dirty="0"/>
          </a:p>
          <a:p>
            <a:pPr marL="0" indent="0">
              <a:buNone/>
            </a:pPr>
            <a:endParaRPr lang="ko-KR" altLang="en-US" sz="1800" dirty="0"/>
          </a:p>
        </p:txBody>
      </p:sp>
      <p:pic>
        <p:nvPicPr>
          <p:cNvPr id="4" name="Picture 2" descr="Postman Reviews 2026: Details, Pricing, &amp; Features | G2">
            <a:extLst>
              <a:ext uri="{FF2B5EF4-FFF2-40B4-BE49-F238E27FC236}">
                <a16:creationId xmlns:a16="http://schemas.microsoft.com/office/drawing/2014/main" id="{37C9A58B-96ED-F348-6789-FD4959358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0" y="795044"/>
            <a:ext cx="6041966" cy="5381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92EF370-38F1-28C0-8D9C-A069C69C8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81" y="3143818"/>
            <a:ext cx="4780033" cy="353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9262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E0AC27-3727-5540-7842-E56EB2F5F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919F92B9-D89E-975C-5EC1-00D8BB52C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DCEBBFB-D101-8673-42A0-669205255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altLang="ko-KR" sz="3400" dirty="0"/>
              <a:t>Swagger UI</a:t>
            </a:r>
            <a:endParaRPr lang="ko-KR" altLang="en-US" sz="3400" dirty="0"/>
          </a:p>
        </p:txBody>
      </p: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B24033B5-4BFD-241E-F370-726BA0E4A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0" name="Rectangle 2069">
            <a:extLst>
              <a:ext uri="{FF2B5EF4-FFF2-40B4-BE49-F238E27FC236}">
                <a16:creationId xmlns:a16="http://schemas.microsoft.com/office/drawing/2014/main" id="{7834669A-F224-9781-BE0F-B0B5E41E6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6442C8-A315-52DF-EB7B-26347D493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API </a:t>
            </a:r>
            <a:r>
              <a:rPr lang="ko-KR" altLang="en-US" sz="2400" dirty="0"/>
              <a:t>확인 문서</a:t>
            </a:r>
            <a:endParaRPr lang="en-US" altLang="ko-KR" sz="2400" dirty="0"/>
          </a:p>
          <a:p>
            <a:pPr marL="0" indent="0">
              <a:buNone/>
            </a:pPr>
            <a:endParaRPr lang="ko-KR" altLang="en-US" sz="1800" dirty="0"/>
          </a:p>
        </p:txBody>
      </p:sp>
      <p:pic>
        <p:nvPicPr>
          <p:cNvPr id="5" name="그림 4" descr="Swagger] JavaScript에서 Swagger를 사용해보자">
            <a:extLst>
              <a:ext uri="{FF2B5EF4-FFF2-40B4-BE49-F238E27FC236}">
                <a16:creationId xmlns:a16="http://schemas.microsoft.com/office/drawing/2014/main" id="{5C50D832-A21A-7DCD-13F4-3669F1227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375425"/>
            <a:ext cx="5112118" cy="27015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9E04549-128C-F4C8-AE48-8FD252525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840" y="1513248"/>
            <a:ext cx="6315918" cy="296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0658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AF3833-4C63-BC4D-97BD-0A9EE554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ko-KR" altLang="en-US" sz="3300"/>
              <a:t>더 알아보면 좋은것들</a:t>
            </a:r>
            <a:r>
              <a:rPr lang="en-US" altLang="ko-KR" sz="3300"/>
              <a:t>…</a:t>
            </a:r>
            <a:endParaRPr lang="ko-KR" altLang="en-US" sz="33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7BB23C-54E5-A3C4-A5F8-D91FF0F9B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en-US" altLang="ko-KR" sz="1800" dirty="0" err="1"/>
              <a:t>MyBatis</a:t>
            </a:r>
            <a:r>
              <a:rPr lang="en-US" altLang="ko-KR" sz="1800" dirty="0"/>
              <a:t> ( DB )</a:t>
            </a:r>
          </a:p>
          <a:p>
            <a:r>
              <a:rPr lang="en-US" altLang="ko-KR" sz="1800" dirty="0"/>
              <a:t>Junit ( test )</a:t>
            </a:r>
          </a:p>
          <a:p>
            <a:r>
              <a:rPr lang="en-US" altLang="ko-KR" sz="1800" dirty="0"/>
              <a:t>Kotlin</a:t>
            </a:r>
          </a:p>
          <a:p>
            <a:endParaRPr lang="en-US" altLang="ko-KR" sz="1800" dirty="0"/>
          </a:p>
          <a:p>
            <a:r>
              <a:rPr lang="en-US" altLang="ko-KR" sz="1800" dirty="0"/>
              <a:t>JWT &amp; </a:t>
            </a:r>
            <a:r>
              <a:rPr lang="en-US" altLang="ko-KR" sz="1800" dirty="0" err="1"/>
              <a:t>Oauth</a:t>
            </a:r>
            <a:endParaRPr lang="en-US" altLang="ko-KR" sz="1800" dirty="0"/>
          </a:p>
          <a:p>
            <a:endParaRPr lang="en-US" altLang="ko-KR" sz="1800" dirty="0"/>
          </a:p>
          <a:p>
            <a:endParaRPr lang="ko-KR" altLang="en-US" sz="1800" dirty="0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구글 로그인: 새롭게 바뀌는 UI와 의아한 공지법 - 디자인 나침반">
            <a:extLst>
              <a:ext uri="{FF2B5EF4-FFF2-40B4-BE49-F238E27FC236}">
                <a16:creationId xmlns:a16="http://schemas.microsoft.com/office/drawing/2014/main" id="{0EF38C93-E1F7-199C-143B-0486755CC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49233" y="841905"/>
            <a:ext cx="3089570" cy="2317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Rectangle 1041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사람인 Android App Kotlin Converting | 기술블로그">
            <a:extLst>
              <a:ext uri="{FF2B5EF4-FFF2-40B4-BE49-F238E27FC236}">
                <a16:creationId xmlns:a16="http://schemas.microsoft.com/office/drawing/2014/main" id="{5851891A-E6CE-8D4B-8D02-E580A720B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512" y="3819034"/>
            <a:ext cx="4383459" cy="219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81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1279</TotalTime>
  <Words>903</Words>
  <Application>Microsoft Office PowerPoint</Application>
  <PresentationFormat>와이드스크린</PresentationFormat>
  <Paragraphs>167</Paragraphs>
  <Slides>45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0" baseType="lpstr">
      <vt:lpstr>맑은 고딕</vt:lpstr>
      <vt:lpstr>Arial</vt:lpstr>
      <vt:lpstr>Calibri</vt:lpstr>
      <vt:lpstr>Wingdings</vt:lpstr>
      <vt:lpstr>Office 테마</vt:lpstr>
      <vt:lpstr>SpringBoot</vt:lpstr>
      <vt:lpstr>PowerPoint 프레젠테이션</vt:lpstr>
      <vt:lpstr>PowerPoint 프레젠테이션</vt:lpstr>
      <vt:lpstr>PowerPoint 프레젠테이션</vt:lpstr>
      <vt:lpstr>PowerPoint 프레젠테이션</vt:lpstr>
      <vt:lpstr>Intellij</vt:lpstr>
      <vt:lpstr>PowerPoint 프레젠테이션</vt:lpstr>
      <vt:lpstr>Controller</vt:lpstr>
      <vt:lpstr>Service</vt:lpstr>
      <vt:lpstr>Repository</vt:lpstr>
      <vt:lpstr>Entity</vt:lpstr>
      <vt:lpstr>Maven vs gradle</vt:lpstr>
      <vt:lpstr>pom.xml </vt:lpstr>
      <vt:lpstr>build.gradle(.kts) </vt:lpstr>
      <vt:lpstr>application.properties</vt:lpstr>
      <vt:lpstr>Annotation &amp; Lombok</vt:lpstr>
      <vt:lpstr>IOC &amp; DI</vt:lpstr>
      <vt:lpstr>JPA vs MyBatis</vt:lpstr>
      <vt:lpstr>JPA</vt:lpstr>
      <vt:lpstr>PowerPoint 프레젠테이션</vt:lpstr>
      <vt:lpstr>Entity</vt:lpstr>
      <vt:lpstr>PowerPoint 프레젠테이션</vt:lpstr>
      <vt:lpstr>PowerPoint 프레젠테이션</vt:lpstr>
      <vt:lpstr>PowerPoint 프레젠테이션</vt:lpstr>
      <vt:lpstr>PowerPoint 프레젠테이션</vt:lpstr>
      <vt:lpstr>Repository</vt:lpstr>
      <vt:lpstr>PowerPoint 프레젠테이션</vt:lpstr>
      <vt:lpstr>PowerPoint 프레젠테이션</vt:lpstr>
      <vt:lpstr>Service</vt:lpstr>
      <vt:lpstr>PowerPoint 프레젠테이션</vt:lpstr>
      <vt:lpstr>Controller</vt:lpstr>
      <vt:lpstr>PowerPoint 프레젠테이션</vt:lpstr>
      <vt:lpstr>PowerPoint 프레젠테이션</vt:lpstr>
      <vt:lpstr>PowerPoint 프레젠테이션</vt:lpstr>
      <vt:lpstr>DTO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Test</vt:lpstr>
      <vt:lpstr>CommadLineRunner</vt:lpstr>
      <vt:lpstr>Postman</vt:lpstr>
      <vt:lpstr>Swagger UI</vt:lpstr>
      <vt:lpstr>더 알아보면 좋은것들…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선민 황</dc:creator>
  <cp:lastModifiedBy>황선민</cp:lastModifiedBy>
  <cp:revision>21</cp:revision>
  <dcterms:created xsi:type="dcterms:W3CDTF">2026-04-13T08:55:37Z</dcterms:created>
  <dcterms:modified xsi:type="dcterms:W3CDTF">2026-09-30T05:50:05Z</dcterms:modified>
</cp:coreProperties>
</file>